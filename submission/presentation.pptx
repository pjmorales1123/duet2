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1edb139a7bc481f" /><Relationship Type="http://schemas.openxmlformats.org/officeDocument/2006/relationships/extended-properties" Target="/docProps/app.xml" Id="R1ebcd362de504e57" /><Relationship Type="http://schemas.openxmlformats.org/officeDocument/2006/relationships/officeDocument" Target="/ppt/presentation.xml" Id="Rd92fad7f841e4918" /></Relationships>
</file>

<file path=ppt/presentation.xml><?xml version="1.0" encoding="utf-8"?>
<p:presentation xmlns:p="http://schemas.openxmlformats.org/presentationml/2006/main">
  <p:sldMasterIdLst>
    <p:sldMasterId xmlns:r="http://schemas.openxmlformats.org/officeDocument/2006/relationships" id="2147483648" r:id="Rb317488743524e37"/>
  </p:sldMasterIdLst>
  <p:notesMasterIdLst>
    <p:notesMasterId xmlns:r="http://schemas.openxmlformats.org/officeDocument/2006/relationships" r:id="R8d0ba20160d04c2a"/>
  </p:notesMasterIdLst>
  <p:sldIdLst>
    <p:sldId xmlns:r="http://schemas.openxmlformats.org/officeDocument/2006/relationships" id="256" r:id="R582090a52a894df4"/>
    <p:sldId xmlns:r="http://schemas.openxmlformats.org/officeDocument/2006/relationships" id="257" r:id="R13010518f04c4973"/>
    <p:sldId xmlns:r="http://schemas.openxmlformats.org/officeDocument/2006/relationships" id="258" r:id="R1bcf8e2b26454e61"/>
    <p:sldId xmlns:r="http://schemas.openxmlformats.org/officeDocument/2006/relationships" id="259" r:id="R5830bec15fda495c"/>
    <p:sldId xmlns:r="http://schemas.openxmlformats.org/officeDocument/2006/relationships" id="260" r:id="R65aec23801a04234"/>
    <p:sldId xmlns:r="http://schemas.openxmlformats.org/officeDocument/2006/relationships" id="261" r:id="R8b4bd85eac2041af"/>
    <p:sldId xmlns:r="http://schemas.openxmlformats.org/officeDocument/2006/relationships" id="262" r:id="Ra80607517be8487e"/>
    <p:sldId xmlns:r="http://schemas.openxmlformats.org/officeDocument/2006/relationships" id="263" r:id="R1ed0514b528a4b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6e34890c0c4089" /><Relationship Type="http://schemas.openxmlformats.org/officeDocument/2006/relationships/slideMaster" Target="/ppt/slideMasters/slideMaster1.xml" Id="Rb317488743524e37" /><Relationship Type="http://schemas.openxmlformats.org/officeDocument/2006/relationships/notesMaster" Target="/ppt/notesMasters/notesMaster1.xml" Id="R8d0ba20160d04c2a" /><Relationship Type="http://schemas.openxmlformats.org/officeDocument/2006/relationships/presProps" Target="/ppt/presProps.xml" Id="R619bf9030b8f4363" /><Relationship Type="http://schemas.openxmlformats.org/officeDocument/2006/relationships/tableStyles" Target="/ppt/tableStyles.xml" Id="R684d70c452af4238" /><Relationship Type="http://schemas.openxmlformats.org/officeDocument/2006/relationships/slide" Target="/ppt/slides/slide1.xml" Id="R582090a52a894df4" /><Relationship Type="http://schemas.openxmlformats.org/officeDocument/2006/relationships/slide" Target="/ppt/slides/slide2.xml" Id="R13010518f04c4973" /><Relationship Type="http://schemas.openxmlformats.org/officeDocument/2006/relationships/slide" Target="/ppt/slides/slide3.xml" Id="R1bcf8e2b26454e61" /><Relationship Type="http://schemas.openxmlformats.org/officeDocument/2006/relationships/slide" Target="/ppt/slides/slide4.xml" Id="R5830bec15fda495c" /><Relationship Type="http://schemas.openxmlformats.org/officeDocument/2006/relationships/slide" Target="/ppt/slides/slide5.xml" Id="R65aec23801a04234" /><Relationship Type="http://schemas.openxmlformats.org/officeDocument/2006/relationships/slide" Target="/ppt/slides/slide6.xml" Id="R8b4bd85eac2041af" /><Relationship Type="http://schemas.openxmlformats.org/officeDocument/2006/relationships/slide" Target="/ppt/slides/slide7.xml" Id="Ra80607517be8487e" /><Relationship Type="http://schemas.openxmlformats.org/officeDocument/2006/relationships/slide" Target="/ppt/slides/slide8.xml" Id="R1ed0514b528a4b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12a78cdf9543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2744aaa0d74fca" /><Relationship Type="http://schemas.openxmlformats.org/officeDocument/2006/relationships/notesMaster" Target="/ppt/notesMasters/notesMaster1.xml" Id="R2f4a8d86ba3c42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64ceee7fe14a88" /><Relationship Type="http://schemas.openxmlformats.org/officeDocument/2006/relationships/notesMaster" Target="/ppt/notesMasters/notesMaster1.xml" Id="R6360b2ccb1f544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bd3c75837f4fa3" /><Relationship Type="http://schemas.openxmlformats.org/officeDocument/2006/relationships/notesMaster" Target="/ppt/notesMasters/notesMaster1.xml" Id="Rc5960c8cba4c42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f6af0151f1498a" /><Relationship Type="http://schemas.openxmlformats.org/officeDocument/2006/relationships/notesMaster" Target="/ppt/notesMasters/notesMaster1.xml" Id="R7ac688cc9fe441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f074de6ef94879" /><Relationship Type="http://schemas.openxmlformats.org/officeDocument/2006/relationships/notesMaster" Target="/ppt/notesMasters/notesMaster1.xml" Id="Rf0af3e13072d46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16e84bdebd4f8e" /><Relationship Type="http://schemas.openxmlformats.org/officeDocument/2006/relationships/notesMaster" Target="/ppt/notesMasters/notesMaster1.xml" Id="Re4c80d0575d64a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1bb2b25eb354284" /><Relationship Type="http://schemas.openxmlformats.org/officeDocument/2006/relationships/notesMaster" Target="/ppt/notesMasters/notesMaster1.xml" Id="R81738b9186cc44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bfdf34b5714de8" /><Relationship Type="http://schemas.openxmlformats.org/officeDocument/2006/relationships/notesMaster" Target="/ppt/notesMasters/notesMaster1.xml" Id="R17e2ca1fd58547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facts: submission/final-v7/PROJECT.md and docs/PC_HANDOFF.md. The image comes from the preserved Talos-v7.pptx and shows actual MuJoCo rendering. All manipulation results refer to simulation. The original six-skill system and broader joint seven-item goal are separate.</a:t>
            </a:r>
          </a:p>
          <a:p xmlns:a="http://schemas.openxmlformats.org/drawingml/2006/main">
            <a:r>
              <a:t/>
            </a:r>
          </a:p>
          <a:p xmlns:a="http://schemas.openxmlformats.org/drawingml/2006/main">
            <a:r>
              <a:t>Brand palette source: AI Infra Summit Physical AI brochure, accessed 2026-09-14: https://cdn.asp.events/CLIENT_Kisaco_R_E0D4AD69_B740_B124_D2ADF5A777880773/sites/AI-Infra-Summit-2026/media/libraries/downloads/PHYSICAL-AI.pdf . Event: https://lablab.ai/ai-hackathons/ai-infra-summit-hackathon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Sequence: bottle, plate, mug, drawer, fork, spoon. Human evidence: docs/robotics/evidence/human-voice-dinner-v1/README.md. Fifteen live mug corrections and both arms parked. Speechmatics transcribes supported commands. Grammar remains bounded. The displayed completed-scene screenshot is from the earlier preserved demo, not a capture of this microphone run. The hosted demo uses typed commands; local browser supports voice.</a:t>
            </a:r>
          </a:p>
          <a:p xmlns:a="http://schemas.openxmlformats.org/drawingml/2006/main">
            <a:r>
              <a:t/>
            </a:r>
          </a:p>
          <a:p xmlns:a="http://schemas.openxmlformats.org/drawingml/2006/main">
            <a:r>
              <a:t>Brand palette source: AI Infra Summit Physical AI brochure, accessed 2026-09-14: https://cdn.asp.events/CLIENT_Kisaco_R_E0D4AD69_B740_B124_D2ADF5A777880773/sites/AI-Infra-Summit-2026/media/libraries/downloads/PHYSICAL-AI.pdf . Event: https://lablab.ai/ai-hackathons/ai-infra-summit-hackathon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models/dinner_suite/README.md, models/dinner_visual_mug_v1/README.md, models/bottle_relays/README.md. Original bottle model preserved. Classical RGB perception, learned motion and privileged monitoring are distinct. No teacher, action retrieval, attachments, teleportation or hidden forces generate deployed neural actions. Unsupported instructions are refused; progress and cancellation remain visible. Training: RTX 4070, OpenVINO FP32 export with parity checks.</a:t>
            </a:r>
          </a:p>
          <a:p xmlns:a="http://schemas.openxmlformats.org/drawingml/2006/main">
            <a:r>
              <a:t/>
            </a:r>
          </a:p>
          <a:p xmlns:a="http://schemas.openxmlformats.org/drawingml/2006/main">
            <a:r>
              <a:t>Brand palette source: AI Infra Summit Physical AI brochure, accessed 2026-09-14: https://cdn.asp.events/CLIENT_Kisaco_R_E0D4AD69_B740_B124_D2ADF5A777880773/sites/AI-Infra-Summit-2026/media/libraries/downloads/PHYSICAL-AI.pdf . Event: https://lablab.ai/ai-hackathons/ai-infra-summit-hackathon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 and outcomes: models/bottle_relays/README.md and docs/robotics/evidence/learned-relays-v3/summary.json. Both directions pass 5/5 frozen trials. No airborne handoff. Selected example seed 2026092501: stills from submission/final-v6/Talos-demo-v6.mp4 at video seconds 83.9, 96.4, 107.9, corresponding to 12, 37, 60 simulated seconds. Crop shows only the opposite-side camera pane. All ten trials remain in the source archive.</a:t>
            </a:r>
          </a:p>
          <a:p xmlns:a="http://schemas.openxmlformats.org/drawingml/2006/main">
            <a:r>
              <a:t/>
            </a:r>
          </a:p>
          <a:p xmlns:a="http://schemas.openxmlformats.org/drawingml/2006/main">
            <a:r>
              <a:t>Brand palette source: AI Infra Summit Physical AI brochure, accessed 2026-09-14: https://cdn.asp.events/CLIENT_Kisaco_R_E0D4AD69_B740_B124_D2ADF5A777880773/sites/AI-Infra-Summit-2026/media/libraries/downloads/PHYSICAL-AI.pdf . Event: https://lablab.ai/ai-hackathons/ai-infra-summit-hackathon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models/dinner_suite/README.md and docs/robotics/evidence/learned-dinner-v6/summary.json, docs/robotics/evidence/learned-relays-v3/summary.json, docs/robotics/evidence/composed-dinner-v1/README.md. Ratios: 8/10,5/5,5/5,8/10. Chart values are 0.8,1,1,0.8 with explicit counts; no pooled denominator or statistical ranking. Two dinner failures: seed 2026091902 mug 14.59 mm, seed 2026091905 spoon 13.61 mm, threshold 8 mm. Composed failures are separate retained spoon failures. These do not establish joint seven-item coverage.</a:t>
            </a:r>
          </a:p>
          <a:p xmlns:a="http://schemas.openxmlformats.org/drawingml/2006/main">
            <a:r>
              <a:t/>
            </a:r>
          </a:p>
          <a:p xmlns:a="http://schemas.openxmlformats.org/drawingml/2006/main">
            <a:r>
              <a:t>Brand palette source: AI Infra Summit Physical AI brochure, accessed 2026-09-14: https://cdn.asp.events/CLIENT_Kisaco_R_E0D4AD69_B740_B124_D2ADF5A777880773/sites/AI-Infra-Summit-2026/media/libraries/downloads/PHYSICAL-AI.pdf . Event: https://lablab.ai/ai-hackathons/ai-infra-summit-hackathon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docs/robotics/evidence/mug-visual-correction-v2/README.md and models/dinner_visual_mug_v1/README.md. Final live 20/20, original baseline 20/20, frozen 0/20; ten per preset in each condition. Shared correction weights unchanged between live and frozen conditions. All 96 total workflows,422745 state frames,824 correction queries preserved. Does not improve success over the original baseline on this sample. The profile is integrated in the private local and hosted demos.</a:t>
            </a:r>
          </a:p>
          <a:p xmlns:a="http://schemas.openxmlformats.org/drawingml/2006/main">
            <a:r>
              <a:t/>
            </a:r>
          </a:p>
          <a:p xmlns:a="http://schemas.openxmlformats.org/drawingml/2006/main">
            <a:r>
              <a:t>Brand palette source: AI Infra Summit Physical AI brochure, accessed 2026-09-14: https://cdn.asp.events/CLIENT_Kisaco_R_E0D4AD69_B740_B124_D2ADF5A777880773/sites/AI-Infra-Summit-2026/media/libraries/downloads/PHYSICAL-AI.pdf . Event: https://lablab.ai/ai-hackathons/ai-infra-summit-hackathon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Intel physical execution/rendering: docs/robotics/evidence/intel-final-legacy-v3/README.md. The two later runs use Intel UHD OpenGL and Intel CPU/GPU.0 inference, matching original six checkpoints. Original bottle network-only timing: submission/evidence/intel-network-benchmark.json,0.157ms CPU and0.688ms iGPU. Not full-loop benchmarks. Current required hardware: docs/hackathon/FINAL_SUBMISSION_CHECKLIST.md, Core Ultra Series2/3 unresolved. New live-mug option requires separately scoped Intel run.</a:t>
            </a:r>
          </a:p>
          <a:p xmlns:a="http://schemas.openxmlformats.org/drawingml/2006/main">
            <a:r>
              <a:t/>
            </a:r>
          </a:p>
          <a:p xmlns:a="http://schemas.openxmlformats.org/drawingml/2006/main">
            <a:r>
              <a:t>Brand palette source: AI Infra Summit Physical AI brochure, accessed 2026-09-14: https://cdn.asp.events/CLIENT_Kisaco_R_E0D4AD69_B740_B124_D2ADF5A777880773/sites/AI-Infra-Summit-2026/media/libraries/downloads/PHYSICAL-AI.pdf . Event: https://lablab.ai/ai-hackathons/ai-infra-summit-hackathon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 and latest status: docs/PC_HANDOFF.md and docs/robotics/WHOLE_TABLE_PIPELINE.md. Seven loose objects: bottle,plate,mug,fork,spoon,side_plate,glass. No complete joint randomized scene succeeds. Adapted CLIPort runtime smoke peak Torch reservation5.49GiB does not establish trained action control. Current physical teacher has subset successes across separate scenes; these cannot be combined into a complete table. Latest V28:207 physical attempts, four accepted actions, only glass complete. Next specific dependency is target-inclusive inverted-glass approach clearance followed by same-scene mug-route continuation, under a new finite protocol. Hosted live-mug CPU demo:287.79 wall seconds, docs/robotics/evidence/human-voice-dinner-v1. Links:https://github.com/jannissio/talos-ai-infra and https://huggingface.co/spaces/jannis-sms/talos-dinner-robotics. Both stay private until agreed release. LICENSE and THIRD_PARTY_NOTICES.md preserve component licenses.</a:t>
            </a:r>
          </a:p>
          <a:p xmlns:a="http://schemas.openxmlformats.org/drawingml/2006/main">
            <a:r>
              <a:t/>
            </a:r>
          </a:p>
          <a:p xmlns:a="http://schemas.openxmlformats.org/drawingml/2006/main">
            <a:r>
              <a:t>Brand palette source: AI Infra Summit Physical AI brochure, accessed 2026-09-14: https://cdn.asp.events/CLIENT_Kisaco_R_E0D4AD69_B740_B124_D2ADF5A777880773/sites/AI-Infra-Summit-2026/media/libraries/downloads/PHYSICAL-AI.pdf . Event: https://lablab.ai/ai-hackathons/ai-infra-summit-hackathon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d955be03934f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ea25bbc4424750" /><Relationship Type="http://schemas.openxmlformats.org/officeDocument/2006/relationships/slideLayout" Target="/ppt/slideLayouts/slideLayout1.xml" Id="Rdcc7a6c9ef2b4b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c7a6c9ef2b4b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dd38c6dc88944ab" /><Relationship Type="http://schemas.openxmlformats.org/officeDocument/2006/relationships/image" Target="/ppt/media/image.jpeg" Id="Rb0cd018fd3d24d4e" /><Relationship Type="http://schemas.openxmlformats.org/officeDocument/2006/relationships/notesSlide" Target="/ppt/notesSlides/notesSlide1.xml" Id="R111ba195716e47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521567b48174ac5" /><Relationship Type="http://schemas.openxmlformats.org/officeDocument/2006/relationships/image" Target="/ppt/media/image2.jpeg" Id="R7e29af172578408f" /><Relationship Type="http://schemas.openxmlformats.org/officeDocument/2006/relationships/notesSlide" Target="/ppt/notesSlides/notesSlide2.xml" Id="R3286ae35fb4a49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b2af24b86ec4892" /><Relationship Type="http://schemas.openxmlformats.org/officeDocument/2006/relationships/notesSlide" Target="/ppt/notesSlides/notesSlide3.xml" Id="R97d7002270cb4d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b0ac9ddb514295" /><Relationship Type="http://schemas.openxmlformats.org/officeDocument/2006/relationships/image" Target="/ppt/media/image.png" Id="Ra6feb71def0f487f" /><Relationship Type="http://schemas.openxmlformats.org/officeDocument/2006/relationships/image" Target="/ppt/media/image2.png" Id="R03cf084f2896456c" /><Relationship Type="http://schemas.openxmlformats.org/officeDocument/2006/relationships/image" Target="/ppt/media/image3.png" Id="Rf73252c9f0ce4cad" /><Relationship Type="http://schemas.openxmlformats.org/officeDocument/2006/relationships/notesSlide" Target="/ppt/notesSlides/notesSlide4.xml" Id="R08ee7197b9514c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57599ae26ea4c9c" /><Relationship Type="http://schemas.openxmlformats.org/officeDocument/2006/relationships/chart" Target="/ppt/slides/charts/chart1.xml" Id="R416c9c0aa68e40c4" /><Relationship Type="http://schemas.openxmlformats.org/officeDocument/2006/relationships/notesSlide" Target="/ppt/notesSlides/notesSlide5.xml" Id="R0778f0025edd41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c4ab552d2044c6" /><Relationship Type="http://schemas.openxmlformats.org/officeDocument/2006/relationships/chart" Target="/ppt/slides/charts/chart2.xml" Id="R76cf0a5ecb154d64" /><Relationship Type="http://schemas.openxmlformats.org/officeDocument/2006/relationships/notesSlide" Target="/ppt/notesSlides/notesSlide6.xml" Id="Rad18e98409964d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70c93271944a85" /><Relationship Type="http://schemas.openxmlformats.org/officeDocument/2006/relationships/notesSlide" Target="/ppt/notesSlides/notesSlide7.xml" Id="Rcebd32de7d4d4d0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d9406c8d85a417e" /><Relationship Type="http://schemas.openxmlformats.org/officeDocument/2006/relationships/notesSlide" Target="/ppt/notesSlides/notesSlide8.xml" Id="R04977b157f154f2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a:solidFill>
                  <a:srgbClr val="626262"/>
                </a:solidFill>
                <a:latin typeface="Segoe UI"/>
                <a:ea typeface="Segoe UI"/>
                <a:cs typeface="Segoe UI"/>
              </a:rPr>
              <a:t>Completed workflows</a:t>
            </a:r>
          </a:p>
        </c:rich>
      </c:tx>
      <c:overlay val="0"/>
      <c:txPr>
        <a:bodyPr xmlns:a="http://schemas.openxmlformats.org/drawingml/2006/main" anchorCtr="1"/>
        <a:lstStyle xmlns:a="http://schemas.openxmlformats.org/drawingml/2006/main"/>
        <a:p xmlns:a="http://schemas.openxmlformats.org/drawingml/2006/main">
          <a:pPr>
            <a:defRPr sz="1350">
              <a:solidFill>
                <a:srgbClr val="626262"/>
              </a:solidFill>
              <a:latin typeface="Segoe UI"/>
              <a:ea typeface="Segoe UI"/>
              <a:cs typeface="Segoe UI"/>
            </a:defRPr>
          </a:pPr>
        </a:p>
      </c:txPr>
    </c:title>
    <c:plotArea>
      <c:barChart>
        <c:barDir val="bar"/>
        <c:grouping val="clustered"/>
        <c:varyColors val="0"/>
        <c:ser>
          <c:idx val="0"/>
          <c:order val="0"/>
          <c:tx>
            <c:v>Completed fraction</c:v>
          </c:tx>
          <c:spPr>
            <a:solidFill xmlns:a="http://schemas.openxmlformats.org/drawingml/2006/main">
              <a:srgbClr val="29ABE2"/>
            </a:solidFill>
            <a:ln xmlns:a="http://schemas.openxmlformats.org/drawingml/2006/main" w="0">
              <a:noFill/>
            </a:ln>
          </c:spPr>
          <c:dLbls>
            <c:dLbl>
              <c:idx val="0"/>
              <c:tx>
                <c:rich>
                  <a:bodyPr xmlns:a="http://schemas.openxmlformats.org/drawingml/2006/main"/>
                  <a:lstStyle xmlns:a="http://schemas.openxmlformats.org/drawingml/2006/main"/>
                  <a:p xmlns:a="http://schemas.openxmlformats.org/drawingml/2006/main">
                    <a:r>
                      <a:rPr sz="1350" b="1">
                        <a:solidFill>
                          <a:srgbClr val="1B1338"/>
                        </a:solidFill>
                        <a:latin typeface="Segoe UI"/>
                        <a:ea typeface="Segoe UI"/>
                        <a:cs typeface="Segoe UI"/>
                      </a:rPr>
                      <a:t>8 / 10</a:t>
                    </a:r>
                  </a:p>
                </c:rich>
              </c:tx>
              <c:txPr>
                <a:bodyPr xmlns:a="http://schemas.openxmlformats.org/drawingml/2006/main" anchorCtr="1"/>
                <a:lstStyle xmlns:a="http://schemas.openxmlformats.org/drawingml/2006/main"/>
                <a:p xmlns:a="http://schemas.openxmlformats.org/drawingml/2006/main">
                  <a:pPr>
                    <a:defRPr sz="1350" b="1">
                      <a:solidFill>
                        <a:srgbClr val="1B1338"/>
                      </a:solidFill>
                      <a:latin typeface="Segoe UI"/>
                      <a:ea typeface="Segoe UI"/>
                      <a:cs typeface="Segoe UI"/>
                    </a:defRPr>
                  </a:pPr>
                </a:p>
              </c:txPr>
              <c:dLblPos val="in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350" b="1">
                        <a:solidFill>
                          <a:srgbClr val="1B1338"/>
                        </a:solidFill>
                        <a:latin typeface="Segoe UI"/>
                        <a:ea typeface="Segoe UI"/>
                        <a:cs typeface="Segoe UI"/>
                      </a:rPr>
                      <a:t>5 / 5</a:t>
                    </a:r>
                  </a:p>
                </c:rich>
              </c:tx>
              <c:txPr>
                <a:bodyPr xmlns:a="http://schemas.openxmlformats.org/drawingml/2006/main" anchorCtr="1"/>
                <a:lstStyle xmlns:a="http://schemas.openxmlformats.org/drawingml/2006/main"/>
                <a:p xmlns:a="http://schemas.openxmlformats.org/drawingml/2006/main">
                  <a:pPr>
                    <a:defRPr sz="1350" b="1">
                      <a:solidFill>
                        <a:srgbClr val="1B1338"/>
                      </a:solidFill>
                      <a:latin typeface="Segoe UI"/>
                      <a:ea typeface="Segoe UI"/>
                      <a:cs typeface="Segoe UI"/>
                    </a:defRPr>
                  </a:pPr>
                </a:p>
              </c:txPr>
              <c:dLblPos val="in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350" b="1">
                        <a:solidFill>
                          <a:srgbClr val="1B1338"/>
                        </a:solidFill>
                        <a:latin typeface="Segoe UI"/>
                        <a:ea typeface="Segoe UI"/>
                        <a:cs typeface="Segoe UI"/>
                      </a:rPr>
                      <a:t>5 / 5</a:t>
                    </a:r>
                  </a:p>
                </c:rich>
              </c:tx>
              <c:txPr>
                <a:bodyPr xmlns:a="http://schemas.openxmlformats.org/drawingml/2006/main" anchorCtr="1"/>
                <a:lstStyle xmlns:a="http://schemas.openxmlformats.org/drawingml/2006/main"/>
                <a:p xmlns:a="http://schemas.openxmlformats.org/drawingml/2006/main">
                  <a:pPr>
                    <a:defRPr sz="1350" b="1">
                      <a:solidFill>
                        <a:srgbClr val="1B1338"/>
                      </a:solidFill>
                      <a:latin typeface="Segoe UI"/>
                      <a:ea typeface="Segoe UI"/>
                      <a:cs typeface="Segoe UI"/>
                    </a:defRPr>
                  </a:pPr>
                </a:p>
              </c:txPr>
              <c:dLblPos val="in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350" b="1">
                        <a:solidFill>
                          <a:srgbClr val="1B1338"/>
                        </a:solidFill>
                        <a:latin typeface="Segoe UI"/>
                        <a:ea typeface="Segoe UI"/>
                        <a:cs typeface="Segoe UI"/>
                      </a:rPr>
                      <a:t>8 / 10</a:t>
                    </a:r>
                  </a:p>
                </c:rich>
              </c:tx>
              <c:txPr>
                <a:bodyPr xmlns:a="http://schemas.openxmlformats.org/drawingml/2006/main" anchorCtr="1"/>
                <a:lstStyle xmlns:a="http://schemas.openxmlformats.org/drawingml/2006/main"/>
                <a:p xmlns:a="http://schemas.openxmlformats.org/drawingml/2006/main">
                  <a:pPr>
                    <a:defRPr sz="1350" b="1">
                      <a:solidFill>
                        <a:srgbClr val="1B1338"/>
                      </a:solidFill>
                      <a:latin typeface="Segoe UI"/>
                      <a:ea typeface="Segoe UI"/>
                      <a:cs typeface="Segoe UI"/>
                    </a:defRPr>
                  </a:pPr>
                </a:p>
              </c:txPr>
              <c:dLblPos val="inEnd"/>
              <c:showLegendKey val="0"/>
              <c:showVal val="0"/>
              <c:showCatName val="0"/>
              <c:showSerName val="0"/>
              <c:showPercent val="0"/>
              <c:showBubbleSize val="0"/>
            </c:dLbl>
          </c:dLbls>
          <c:cat>
            <c:strRef>
              <c:f>'Chart Data'!$A$2:$A$5</c:f>
              <c:strCache>
                <c:ptCount val="4"/>
                <c:pt idx="0">
                  <c:v>Relay plus dinner</c:v>
                </c:pt>
                <c:pt idx="1">
                  <c:v>Relay: right to left</c:v>
                </c:pt>
                <c:pt idx="2">
                  <c:v>Relay: left to right</c:v>
                </c:pt>
                <c:pt idx="3">
                  <c:v>Six-skill dinner</c:v>
                </c:pt>
              </c:strCache>
            </c:strRef>
          </c:cat>
          <c:val>
            <c:numRef>
              <c:f>'Chart Data'!$B$2:$B$5</c:f>
              <c:numCache>
                <c:formatCode>0%</c:formatCode>
                <c:ptCount val="4"/>
                <c:pt idx="0">
                  <c:v>0.8</c:v>
                </c:pt>
                <c:pt idx="1">
                  <c:v>1</c:v>
                </c:pt>
                <c:pt idx="2">
                  <c:v>1</c:v>
                </c:pt>
                <c:pt idx="3">
                  <c:v>0.8</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B1338"/>
                  </a:solidFill>
                  <a:latin typeface="Segoe UI"/>
                  <a:ea typeface="Segoe UI"/>
                  <a:cs typeface="Segoe UI"/>
                </a:defRPr>
              </a:pPr>
            </a:p>
          </c:txPr>
          <c:dLblPos val="in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2B373B"/>
                </a:solidFill>
                <a:latin typeface="Segoe UI"/>
                <a:ea typeface="Segoe UI"/>
                <a:cs typeface="Segoe UI"/>
              </a:defRPr>
            </a:pPr>
          </a:p>
        </c:txPr>
        <c:crossAx val="48672768"/>
      </c:catAx>
      <c:valAx>
        <c:axId val="48672768"/>
        <c:scaling>
          <c:orientation val="minMax"/>
          <c:max val="1"/>
          <c:min val="0"/>
        </c:scaling>
        <c:delete val="0"/>
        <c:axPos val="b"/>
        <c:majorGridlines>
          <c:spPr>
            <a:ln xmlns:a="http://schemas.openxmlformats.org/drawingml/2006/main" w="6668">
              <a:solidFill>
                <a:srgbClr val="EAECE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a:solidFill>
                  <a:srgbClr val="626262"/>
                </a:solidFill>
                <a:latin typeface="Segoe UI"/>
                <a:ea typeface="Segoe UI"/>
                <a:cs typeface="Segoe U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a:solidFill>
                  <a:srgbClr val="626262"/>
                </a:solidFill>
                <a:latin typeface="Segoe UI"/>
                <a:ea typeface="Segoe UI"/>
                <a:cs typeface="Segoe UI"/>
              </a:rPr>
              <a:t>Successful final workflows out of 20</a:t>
            </a:r>
          </a:p>
        </c:rich>
      </c:tx>
      <c:overlay val="0"/>
      <c:txPr>
        <a:bodyPr xmlns:a="http://schemas.openxmlformats.org/drawingml/2006/main" anchorCtr="1"/>
        <a:lstStyle xmlns:a="http://schemas.openxmlformats.org/drawingml/2006/main"/>
        <a:p xmlns:a="http://schemas.openxmlformats.org/drawingml/2006/main">
          <a:pPr>
            <a:defRPr sz="1350">
              <a:solidFill>
                <a:srgbClr val="626262"/>
              </a:solidFill>
              <a:latin typeface="Segoe UI"/>
              <a:ea typeface="Segoe UI"/>
              <a:cs typeface="Segoe UI"/>
            </a:defRPr>
          </a:pPr>
        </a:p>
      </c:txPr>
    </c:title>
    <c:plotArea>
      <c:barChart>
        <c:barDir val="col"/>
        <c:grouping val="clustered"/>
        <c:varyColors val="0"/>
        <c:ser>
          <c:idx val="0"/>
          <c:order val="0"/>
          <c:tx>
            <c:v>Successful workflows</c:v>
          </c:tx>
          <c:spPr>
            <a:solidFill xmlns:a="http://schemas.openxmlformats.org/drawingml/2006/main">
              <a:srgbClr val="29ABE2"/>
            </a:solidFill>
            <a:ln xmlns:a="http://schemas.openxmlformats.org/drawingml/2006/main" w="0">
              <a:noFill/>
            </a:ln>
          </c:spPr>
          <c:dPt>
            <c:idx val="0"/>
            <c:invertIfNegative val="0"/>
            <c:spPr>
              <a:solidFill xmlns:a="http://schemas.openxmlformats.org/drawingml/2006/main">
                <a:srgbClr val="29ABE2"/>
              </a:solidFill>
            </c:spPr>
          </c:dPt>
          <c:dPt>
            <c:idx val="1"/>
            <c:invertIfNegative val="0"/>
            <c:spPr>
              <a:solidFill xmlns:a="http://schemas.openxmlformats.org/drawingml/2006/main">
                <a:srgbClr val="1B1338"/>
              </a:solidFill>
            </c:spPr>
          </c:dPt>
          <c:dPt>
            <c:idx val="2"/>
            <c:invertIfNegative val="0"/>
            <c:spPr>
              <a:solidFill xmlns:a="http://schemas.openxmlformats.org/drawingml/2006/main">
                <a:srgbClr val="A6A8AD"/>
              </a:solidFill>
            </c:spPr>
          </c:dPt>
          <c:dLbls>
            <c:dLbl>
              <c:idx val="0"/>
              <c:tx>
                <c:rich>
                  <a:bodyPr xmlns:a="http://schemas.openxmlformats.org/drawingml/2006/main"/>
                  <a:lstStyle xmlns:a="http://schemas.openxmlformats.org/drawingml/2006/main"/>
                  <a:p xmlns:a="http://schemas.openxmlformats.org/drawingml/2006/main">
                    <a:r>
                      <a:rPr sz="1350" b="1">
                        <a:solidFill>
                          <a:srgbClr val="1B1338"/>
                        </a:solidFill>
                        <a:latin typeface="Segoe UI"/>
                        <a:ea typeface="Segoe UI"/>
                        <a:cs typeface="Segoe UI"/>
                      </a:rPr>
                      <a:t>20 / 20</a:t>
                    </a:r>
                  </a:p>
                </c:rich>
              </c:tx>
              <c:txPr>
                <a:bodyPr xmlns:a="http://schemas.openxmlformats.org/drawingml/2006/main" anchorCtr="1"/>
                <a:lstStyle xmlns:a="http://schemas.openxmlformats.org/drawingml/2006/main"/>
                <a:p xmlns:a="http://schemas.openxmlformats.org/drawingml/2006/main">
                  <a:pPr>
                    <a:defRPr sz="1350" b="1">
                      <a:solidFill>
                        <a:srgbClr val="1B1338"/>
                      </a:solidFill>
                      <a:latin typeface="Segoe UI"/>
                      <a:ea typeface="Segoe UI"/>
                      <a:cs typeface="Segoe UI"/>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350" b="1">
                        <a:solidFill>
                          <a:srgbClr val="1B1338"/>
                        </a:solidFill>
                        <a:latin typeface="Segoe UI"/>
                        <a:ea typeface="Segoe UI"/>
                        <a:cs typeface="Segoe UI"/>
                      </a:rPr>
                      <a:t>20 / 20</a:t>
                    </a:r>
                  </a:p>
                </c:rich>
              </c:tx>
              <c:txPr>
                <a:bodyPr xmlns:a="http://schemas.openxmlformats.org/drawingml/2006/main" anchorCtr="1"/>
                <a:lstStyle xmlns:a="http://schemas.openxmlformats.org/drawingml/2006/main"/>
                <a:p xmlns:a="http://schemas.openxmlformats.org/drawingml/2006/main">
                  <a:pPr>
                    <a:defRPr sz="1350" b="1">
                      <a:solidFill>
                        <a:srgbClr val="1B1338"/>
                      </a:solidFill>
                      <a:latin typeface="Segoe UI"/>
                      <a:ea typeface="Segoe UI"/>
                      <a:cs typeface="Segoe UI"/>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350" b="1">
                        <a:solidFill>
                          <a:srgbClr val="1B1338"/>
                        </a:solidFill>
                        <a:latin typeface="Segoe UI"/>
                        <a:ea typeface="Segoe UI"/>
                        <a:cs typeface="Segoe UI"/>
                      </a:rPr>
                      <a:t>0 / 20</a:t>
                    </a:r>
                  </a:p>
                </c:rich>
              </c:tx>
              <c:txPr>
                <a:bodyPr xmlns:a="http://schemas.openxmlformats.org/drawingml/2006/main" anchorCtr="1"/>
                <a:lstStyle xmlns:a="http://schemas.openxmlformats.org/drawingml/2006/main"/>
                <a:p xmlns:a="http://schemas.openxmlformats.org/drawingml/2006/main">
                  <a:pPr>
                    <a:defRPr sz="1350" b="1">
                      <a:solidFill>
                        <a:srgbClr val="1B1338"/>
                      </a:solidFill>
                      <a:latin typeface="Segoe UI"/>
                      <a:ea typeface="Segoe UI"/>
                      <a:cs typeface="Segoe UI"/>
                    </a:defRPr>
                  </a:pPr>
                </a:p>
              </c:txPr>
              <c:showLegendKey val="0"/>
              <c:showVal val="0"/>
              <c:showCatName val="0"/>
              <c:showSerName val="0"/>
              <c:showPercent val="0"/>
              <c:showBubbleSize val="0"/>
            </c:dLbl>
          </c:dLbls>
          <c:cat>
            <c:strRef>
              <c:f>'Chart Data'!$A$2:$A$4</c:f>
              <c:strCache>
                <c:ptCount val="3"/>
                <c:pt idx="0">
                  <c:v>Live images</c:v>
                </c:pt>
                <c:pt idx="1">
                  <c:v>Original baseline</c:v>
                </c:pt>
                <c:pt idx="2">
                  <c:v>Frozen images</c:v>
                </c:pt>
              </c:strCache>
            </c:strRef>
          </c:cat>
          <c:val>
            <c:numRef>
              <c:f>'Chart Data'!$B$2:$B$4</c:f>
              <c:numCache>
                <c:formatCode>0</c:formatCode>
                <c:ptCount val="3"/>
                <c:pt idx="0">
                  <c:v>20</c:v>
                </c:pt>
                <c:pt idx="1">
                  <c:v>20</c:v>
                </c:pt>
                <c:pt idx="2">
                  <c:v>0</c:v>
                </c:pt>
              </c:numCache>
            </c:numRef>
          </c:val>
        </c:ser>
        <c:dLbls>
          <c:txPr>
            <a:bodyPr xmlns:a="http://schemas.openxmlformats.org/drawingml/2006/main" anchorCtr="1"/>
            <a:lstStyle xmlns:a="http://schemas.openxmlformats.org/drawingml/2006/main"/>
            <a:p xmlns:a="http://schemas.openxmlformats.org/drawingml/2006/main">
              <a:pPr>
                <a:defRPr sz="1425" b="1">
                  <a:solidFill>
                    <a:srgbClr val="1B1338"/>
                  </a:solidFill>
                  <a:latin typeface="Segoe UI"/>
                  <a:ea typeface="Segoe UI"/>
                  <a:cs typeface="Segoe UI"/>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ADDE2"/>
            </a:solidFill>
          </a:ln>
        </c:spPr>
        <c:txPr>
          <a:bodyPr xmlns:a="http://schemas.openxmlformats.org/drawingml/2006/main" anchorCtr="1"/>
          <a:lstStyle xmlns:a="http://schemas.openxmlformats.org/drawingml/2006/main"/>
          <a:p xmlns:a="http://schemas.openxmlformats.org/drawingml/2006/main">
            <a:pPr>
              <a:defRPr sz="1275">
                <a:solidFill>
                  <a:srgbClr val="2B373B"/>
                </a:solidFill>
                <a:latin typeface="Segoe UI"/>
                <a:ea typeface="Segoe UI"/>
                <a:cs typeface="Segoe UI"/>
              </a:defRPr>
            </a:pPr>
          </a:p>
        </c:txPr>
        <c:crossAx val="48672768"/>
      </c:catAx>
      <c:valAx>
        <c:axId val="48672768"/>
        <c:scaling>
          <c:orientation val="minMax"/>
          <c:max val="24"/>
          <c:min val="0"/>
        </c:scaling>
        <c:delete val="0"/>
        <c:axPos val="l"/>
        <c:majorGridlines>
          <c:spPr>
            <a:ln xmlns:a="http://schemas.openxmlformats.org/drawingml/2006/main" w="6668">
              <a:solidFill>
                <a:srgbClr val="EAECE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626262"/>
                </a:solidFill>
                <a:latin typeface="Segoe UI"/>
                <a:ea typeface="Segoe UI"/>
                <a:cs typeface="Segoe UI"/>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ADFA44E-5772-4A15-976B-2E1A37FD8B74}"/>
              </a:ext>
            </a:extLst>
          </p:cNvPr>
          <p:cNvSpPr>
            <a:spLocks xmlns:a="http://schemas.openxmlformats.org/drawingml/2006/main" noGrp="1"/>
          </p:cNvSpPr>
          <p:nvPr/>
        </p:nvSpPr>
        <p:spPr>
          <a:xfrm xmlns:a="http://schemas.openxmlformats.org/drawingml/2006/main">
            <a:off x="609600" y="6467475"/>
            <a:ext cx="109728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2" name="Footer">
            <a:extLst xmlns:a="http://schemas.openxmlformats.org/drawingml/2006/main">
              <a:ext uri="{FF2B5EF4-FFF2-40B4-BE49-F238E27FC236}">
                <a16:creationId xmlns:a16="http://schemas.microsoft.com/office/drawing/2014/main" id="{7770458A-D595-4CE4-8771-6EAD80330AC3}"/>
              </a:ext>
            </a:extLst>
          </p:cNvPr>
          <p:cNvSpPr>
            <a:spLocks xmlns:a="http://schemas.openxmlformats.org/drawingml/2006/main" noGrp="1"/>
          </p:cNvSpPr>
          <p:nvPr/>
        </p:nvSpPr>
        <p:spPr>
          <a:xfrm xmlns:a="http://schemas.openxmlformats.org/drawingml/2006/main">
            <a:off x="609600" y="65627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Talos</a:t>
            </a:r>
          </a:p>
        </p:txBody>
      </p:sp>
      <p:sp>
        <p:nvSpPr>
          <p:cNvPr id="3" name="Page">
            <a:extLst xmlns:a="http://schemas.openxmlformats.org/drawingml/2006/main">
              <a:ext uri="{FF2B5EF4-FFF2-40B4-BE49-F238E27FC236}">
                <a16:creationId xmlns:a16="http://schemas.microsoft.com/office/drawing/2014/main" id="{0FFBB5BD-435B-4BCC-8CB6-D72CA56BA9E6}"/>
              </a:ext>
            </a:extLst>
          </p:cNvPr>
          <p:cNvSpPr>
            <a:spLocks xmlns:a="http://schemas.openxmlformats.org/drawingml/2006/main" noGrp="1"/>
          </p:cNvSpPr>
          <p:nvPr/>
        </p:nvSpPr>
        <p:spPr>
          <a:xfrm xmlns:a="http://schemas.openxmlformats.org/drawingml/2006/main">
            <a:off x="11125200" y="6562725"/>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01</a:t>
            </a:r>
          </a:p>
        </p:txBody>
      </p:sp>
      <p:sp>
        <p:nvSpPr>
          <p:cNvPr id="4" name="Project name">
            <a:extLst xmlns:a="http://schemas.openxmlformats.org/drawingml/2006/main">
              <a:ext uri="{FF2B5EF4-FFF2-40B4-BE49-F238E27FC236}">
                <a16:creationId xmlns:a16="http://schemas.microsoft.com/office/drawing/2014/main" id="{1B89DEA5-8A8A-4FD6-B56D-3C22509E7A9D}"/>
              </a:ext>
            </a:extLst>
          </p:cNvPr>
          <p:cNvSpPr>
            <a:spLocks xmlns:a="http://schemas.openxmlformats.org/drawingml/2006/main" noGrp="1"/>
          </p:cNvSpPr>
          <p:nvPr/>
        </p:nvSpPr>
        <p:spPr>
          <a:xfrm xmlns:a="http://schemas.openxmlformats.org/drawingml/2006/main">
            <a:off x="609600" y="3238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6600" b="1">
                <a:solidFill>
                  <a:srgbClr val="1B1338"/>
                </a:solidFill>
                <a:latin typeface="Segoe UI Semibold"/>
                <a:ea typeface="Segoe UI Semibold"/>
                <a:cs typeface="Segoe UI Semibold"/>
              </a:defRPr>
            </a:pPr>
            <a:r>
              <a:rPr sz="6600" b="1">
                <a:solidFill>
                  <a:srgbClr val="1B1338"/>
                </a:solidFill>
                <a:latin typeface="Segoe UI Semibold"/>
                <a:ea typeface="Segoe UI Semibold"/>
                <a:cs typeface="Segoe UI Semibold"/>
              </a:rPr>
              <a:t>Talos</a:t>
            </a:r>
          </a:p>
        </p:txBody>
      </p:sp>
      <p:sp>
        <p:nvSpPr>
          <p:cNvPr id="5" name="Event">
            <a:extLst xmlns:a="http://schemas.openxmlformats.org/drawingml/2006/main">
              <a:ext uri="{FF2B5EF4-FFF2-40B4-BE49-F238E27FC236}">
                <a16:creationId xmlns:a16="http://schemas.microsoft.com/office/drawing/2014/main" id="{FB12AC11-0047-4717-8761-BD2722AB9C58}"/>
              </a:ext>
            </a:extLst>
          </p:cNvPr>
          <p:cNvSpPr>
            <a:spLocks xmlns:a="http://schemas.openxmlformats.org/drawingml/2006/main" noGrp="1"/>
          </p:cNvSpPr>
          <p:nvPr/>
        </p:nvSpPr>
        <p:spPr>
          <a:xfrm xmlns:a="http://schemas.openxmlformats.org/drawingml/2006/main">
            <a:off x="8696325" y="571500"/>
            <a:ext cx="28860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1200" b="0">
                <a:solidFill>
                  <a:srgbClr val="626262"/>
                </a:solidFill>
                <a:latin typeface="Segoe UI"/>
                <a:ea typeface="Segoe UI"/>
                <a:cs typeface="Segoe UI"/>
              </a:defRPr>
            </a:pPr>
            <a:r>
              <a:rPr sz="1200" b="0">
                <a:solidFill>
                  <a:srgbClr val="626262"/>
                </a:solidFill>
                <a:latin typeface="Segoe UI"/>
                <a:ea typeface="Segoe UI"/>
                <a:cs typeface="Segoe UI"/>
              </a:rPr>
              <a:t>AI Infra Summit Hackathon</a:t>
            </a:r>
          </a:p>
          <a:p xmlns:a="http://schemas.openxmlformats.org/drawingml/2006/main">
            <a:pPr algn="r">
              <a:lnSpc>
                <a:spcPct val="120000"/>
              </a:lnSpc>
              <a:buNone/>
              <a:defRPr sz="1200" b="0">
                <a:solidFill>
                  <a:srgbClr val="626262"/>
                </a:solidFill>
                <a:latin typeface="Segoe UI"/>
                <a:ea typeface="Segoe UI"/>
                <a:cs typeface="Segoe UI"/>
              </a:defRPr>
            </a:pPr>
            <a:r>
              <a:rPr sz="1200" b="0">
                <a:solidFill>
                  <a:srgbClr val="626262"/>
                </a:solidFill>
                <a:latin typeface="Segoe UI"/>
                <a:ea typeface="Segoe UI"/>
                <a:cs typeface="Segoe UI"/>
              </a:rPr>
              <a:t>September 2026</a:t>
            </a:r>
          </a:p>
        </p:txBody>
      </p:sp>
      <p:sp>
        <p:nvSpPr>
          <p:cNvPr id="6" name="Project purpose">
            <a:extLst xmlns:a="http://schemas.openxmlformats.org/drawingml/2006/main">
              <a:ext uri="{FF2B5EF4-FFF2-40B4-BE49-F238E27FC236}">
                <a16:creationId xmlns:a16="http://schemas.microsoft.com/office/drawing/2014/main" id="{0610A31A-699A-48C2-B71E-BA4306DB806F}"/>
              </a:ext>
            </a:extLst>
          </p:cNvPr>
          <p:cNvSpPr>
            <a:spLocks xmlns:a="http://schemas.openxmlformats.org/drawingml/2006/main" noGrp="1"/>
          </p:cNvSpPr>
          <p:nvPr/>
        </p:nvSpPr>
        <p:spPr>
          <a:xfrm xmlns:a="http://schemas.openxmlformats.org/drawingml/2006/main">
            <a:off x="638175" y="14478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175" b="0">
                <a:solidFill>
                  <a:srgbClr val="2B373B"/>
                </a:solidFill>
                <a:latin typeface="Segoe UI"/>
                <a:ea typeface="Segoe UI"/>
                <a:cs typeface="Segoe UI"/>
              </a:defRPr>
            </a:pPr>
            <a:r>
              <a:rPr sz="2175" b="0">
                <a:solidFill>
                  <a:srgbClr val="2B373B"/>
                </a:solidFill>
                <a:latin typeface="Segoe UI"/>
                <a:ea typeface="Segoe UI"/>
                <a:cs typeface="Segoe UI"/>
              </a:rPr>
              <a:t>Spoken instructions for learned dinner-table tasks</a:t>
            </a:r>
          </a:p>
        </p:txBody>
      </p:sp>
      <p:sp>
        <p:nvSpPr>
          <p:cNvPr id="7" name="">
            <a:extLst xmlns:a="http://schemas.openxmlformats.org/drawingml/2006/main">
              <a:ext uri="{FF2B5EF4-FFF2-40B4-BE49-F238E27FC236}">
                <a16:creationId xmlns:a16="http://schemas.microsoft.com/office/drawing/2014/main" id="{CB9BB0C1-DB7C-446C-94EA-A755D65BA21C}"/>
              </a:ext>
            </a:extLst>
          </p:cNvPr>
          <p:cNvSpPr>
            <a:spLocks xmlns:a="http://schemas.openxmlformats.org/drawingml/2006/main" noGrp="1"/>
          </p:cNvSpPr>
          <p:nvPr/>
        </p:nvSpPr>
        <p:spPr>
          <a:xfrm xmlns:a="http://schemas.openxmlformats.org/drawingml/2006/main">
            <a:off x="638175" y="2085975"/>
            <a:ext cx="685800" cy="47625"/>
          </a:xfrm>
          <a:prstGeom xmlns:a="http://schemas.openxmlformats.org/drawingml/2006/main" prst="rect">
            <a:avLst/>
          </a:prstGeom>
          <a:solidFill xmlns:a="http://schemas.openxmlformats.org/drawingml/2006/main">
            <a:srgbClr val="29ABE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0cd018fd3d24d4e"/>
          <a:srcRect xmlns:a="http://schemas.openxmlformats.org/drawingml/2006/main" l="0" t="10000" r="0" b="0"/>
          <a:stretch xmlns:a="http://schemas.openxmlformats.org/drawingml/2006/main"/>
        </p:blipFill>
        <p:spPr>
          <a:xfrm xmlns:a="http://schemas.openxmlformats.org/drawingml/2006/main">
            <a:off x="609600" y="2505075"/>
            <a:ext cx="7477125" cy="3785235"/>
          </a:xfrm>
          <a:prstGeom xmlns:a="http://schemas.openxmlformats.org/drawingml/2006/main" prst="rect">
            <a:avLst/>
          </a:prstGeom>
        </p:spPr>
      </p:pic>
      <p:sp>
        <p:nvSpPr>
          <p:cNvPr id="9" name="System summary">
            <a:extLst xmlns:a="http://schemas.openxmlformats.org/drawingml/2006/main">
              <a:ext uri="{FF2B5EF4-FFF2-40B4-BE49-F238E27FC236}">
                <a16:creationId xmlns:a16="http://schemas.microsoft.com/office/drawing/2014/main" id="{160F37F1-D68B-4486-9F34-9F7BB77F7519}"/>
              </a:ext>
            </a:extLst>
          </p:cNvPr>
          <p:cNvSpPr>
            <a:spLocks xmlns:a="http://schemas.openxmlformats.org/drawingml/2006/main" noGrp="1"/>
          </p:cNvSpPr>
          <p:nvPr/>
        </p:nvSpPr>
        <p:spPr>
          <a:xfrm xmlns:a="http://schemas.openxmlformats.org/drawingml/2006/main">
            <a:off x="8572500" y="2762250"/>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100" b="1">
                <a:solidFill>
                  <a:srgbClr val="1B1338"/>
                </a:solidFill>
                <a:latin typeface="Segoe UI Semibold"/>
                <a:ea typeface="Segoe UI Semibold"/>
                <a:cs typeface="Segoe UI Semibold"/>
              </a:defRPr>
            </a:pPr>
            <a:r>
              <a:rPr sz="2100" b="1">
                <a:solidFill>
                  <a:srgbClr val="1B1338"/>
                </a:solidFill>
                <a:latin typeface="Segoe UI Semibold"/>
                <a:ea typeface="Segoe UI Semibold"/>
                <a:cs typeface="Segoe UI Semibold"/>
              </a:rPr>
              <a:t>Two SO-101 arms</a:t>
            </a:r>
          </a:p>
          <a:p xmlns:a="http://schemas.openxmlformats.org/drawingml/2006/main">
            <a:pPr>
              <a:lnSpc>
                <a:spcPct val="120000"/>
              </a:lnSpc>
              <a:buNone/>
              <a:defRPr sz="2100" b="1">
                <a:solidFill>
                  <a:srgbClr val="1B1338"/>
                </a:solidFill>
                <a:latin typeface="Segoe UI Semibold"/>
                <a:ea typeface="Segoe UI Semibold"/>
                <a:cs typeface="Segoe UI Semibold"/>
              </a:defRPr>
            </a:pPr>
            <a:r>
              <a:rPr sz="2100" b="1">
                <a:solidFill>
                  <a:srgbClr val="1B1338"/>
                </a:solidFill>
                <a:latin typeface="Segoe UI Semibold"/>
                <a:ea typeface="Segoe UI Semibold"/>
                <a:cs typeface="Segoe UI Semibold"/>
              </a:rPr>
              <a:t>Six learned skills</a:t>
            </a:r>
          </a:p>
        </p:txBody>
      </p:sp>
      <p:sp>
        <p:nvSpPr>
          <p:cNvPr id="10" name="Additional behavior">
            <a:extLst xmlns:a="http://schemas.openxmlformats.org/drawingml/2006/main">
              <a:ext uri="{FF2B5EF4-FFF2-40B4-BE49-F238E27FC236}">
                <a16:creationId xmlns:a16="http://schemas.microsoft.com/office/drawing/2014/main" id="{F8889709-9071-4959-993E-0209261B2459}"/>
              </a:ext>
            </a:extLst>
          </p:cNvPr>
          <p:cNvSpPr>
            <a:spLocks xmlns:a="http://schemas.openxmlformats.org/drawingml/2006/main" noGrp="1"/>
          </p:cNvSpPr>
          <p:nvPr/>
        </p:nvSpPr>
        <p:spPr>
          <a:xfrm xmlns:a="http://schemas.openxmlformats.org/drawingml/2006/main">
            <a:off x="8572500" y="4000500"/>
            <a:ext cx="285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500" b="0">
                <a:solidFill>
                  <a:srgbClr val="2B373B"/>
                </a:solidFill>
                <a:latin typeface="Segoe UI"/>
                <a:ea typeface="Segoe UI"/>
                <a:cs typeface="Segoe UI"/>
              </a:defRPr>
            </a:pPr>
            <a:r>
              <a:rPr sz="1500" b="0">
                <a:solidFill>
                  <a:srgbClr val="2B373B"/>
                </a:solidFill>
                <a:latin typeface="Segoe UI"/>
                <a:ea typeface="Segoe UI"/>
                <a:cs typeface="Segoe UI"/>
              </a:rPr>
              <a:t>Bottle relays in both directions</a:t>
            </a:r>
          </a:p>
          <a:p xmlns:a="http://schemas.openxmlformats.org/drawingml/2006/main">
            <a:pPr>
              <a:lnSpc>
                <a:spcPct val="120000"/>
              </a:lnSpc>
              <a:buNone/>
              <a:defRPr sz="1500" b="0">
                <a:solidFill>
                  <a:srgbClr val="2B373B"/>
                </a:solidFill>
                <a:latin typeface="Segoe UI"/>
                <a:ea typeface="Segoe UI"/>
                <a:cs typeface="Segoe UI"/>
              </a:defRPr>
            </a:pPr>
            <a:r>
              <a:rPr sz="1500" b="0">
                <a:solidFill>
                  <a:srgbClr val="2B373B"/>
                </a:solidFill>
                <a:latin typeface="Segoe UI"/>
                <a:ea typeface="Segoe UI"/>
                <a:cs typeface="Segoe UI"/>
              </a:rPr>
              <a:t>OpenVINO inference</a:t>
            </a:r>
          </a:p>
          <a:p xmlns:a="http://schemas.openxmlformats.org/drawingml/2006/main">
            <a:pPr>
              <a:lnSpc>
                <a:spcPct val="120000"/>
              </a:lnSpc>
              <a:buNone/>
              <a:defRPr sz="1500" b="0">
                <a:solidFill>
                  <a:srgbClr val="2B373B"/>
                </a:solidFill>
                <a:latin typeface="Segoe UI"/>
                <a:ea typeface="Segoe UI"/>
                <a:cs typeface="Segoe UI"/>
              </a:defRPr>
            </a:pPr>
            <a:r>
              <a:rPr sz="1500" b="0">
                <a:solidFill>
                  <a:srgbClr val="2B373B"/>
                </a:solidFill>
                <a:latin typeface="Segoe UI"/>
                <a:ea typeface="Segoe UI"/>
                <a:cs typeface="Segoe UI"/>
              </a:rPr>
              <a:t>Speechmatics voice input</a:t>
            </a:r>
          </a:p>
        </p:txBody>
      </p:sp>
      <p:sp>
        <p:nvSpPr>
          <p:cNvPr id="11" name="Scope">
            <a:extLst xmlns:a="http://schemas.openxmlformats.org/drawingml/2006/main">
              <a:ext uri="{FF2B5EF4-FFF2-40B4-BE49-F238E27FC236}">
                <a16:creationId xmlns:a16="http://schemas.microsoft.com/office/drawing/2014/main" id="{E115CA59-F277-4113-8F55-75879ABDDCDB}"/>
              </a:ext>
            </a:extLst>
          </p:cNvPr>
          <p:cNvSpPr>
            <a:spLocks xmlns:a="http://schemas.openxmlformats.org/drawingml/2006/main" noGrp="1"/>
          </p:cNvSpPr>
          <p:nvPr/>
        </p:nvSpPr>
        <p:spPr>
          <a:xfrm xmlns:a="http://schemas.openxmlformats.org/drawingml/2006/main">
            <a:off x="8572500" y="5429250"/>
            <a:ext cx="28860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275" b="0">
                <a:solidFill>
                  <a:srgbClr val="626262"/>
                </a:solidFill>
                <a:latin typeface="Segoe UI"/>
                <a:ea typeface="Segoe UI"/>
                <a:cs typeface="Segoe UI"/>
              </a:defRPr>
            </a:pPr>
            <a:r>
              <a:rPr sz="1275" b="0">
                <a:solidFill>
                  <a:srgbClr val="626262"/>
                </a:solidFill>
                <a:latin typeface="Segoe UI"/>
                <a:ea typeface="Segoe UI"/>
                <a:cs typeface="Segoe UI"/>
              </a:rPr>
              <a:t>A physical simulation prototype.</a:t>
            </a:r>
          </a:p>
          <a:p xmlns:a="http://schemas.openxmlformats.org/drawingml/2006/main">
            <a:pPr>
              <a:lnSpc>
                <a:spcPct val="120000"/>
              </a:lnSpc>
              <a:buNone/>
              <a:defRPr sz="1275" b="0">
                <a:solidFill>
                  <a:srgbClr val="626262"/>
                </a:solidFill>
                <a:latin typeface="Segoe UI"/>
                <a:ea typeface="Segoe UI"/>
                <a:cs typeface="Segoe UI"/>
              </a:defRPr>
            </a:pPr>
            <a:r>
              <a:rPr sz="1275" b="0">
                <a:solidFill>
                  <a:srgbClr val="626262"/>
                </a:solidFill>
                <a:latin typeface="Segoe UI"/>
                <a:ea typeface="Segoe UI"/>
                <a:cs typeface="Segoe UI"/>
              </a:rPr>
              <a:t>Broader seven-item control remains unfinished.</a:t>
            </a:r>
          </a:p>
        </p:txBody>
      </p:sp>
    </p:spTree>
    <p:extLst>
      <p:ext uri="{BB962C8B-B14F-4D97-AF65-F5344CB8AC3E}">
        <p14:creationId xmlns:p14="http://schemas.microsoft.com/office/powerpoint/2010/main" val="4537830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lide title">
            <a:extLst xmlns:a="http://schemas.openxmlformats.org/drawingml/2006/main">
              <a:ext uri="{FF2B5EF4-FFF2-40B4-BE49-F238E27FC236}">
                <a16:creationId xmlns:a16="http://schemas.microsoft.com/office/drawing/2014/main" id="{94300CF4-9F80-4A0A-99E7-5E2CCEA9F77E}"/>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850" b="1">
                <a:solidFill>
                  <a:srgbClr val="1B1338"/>
                </a:solidFill>
                <a:latin typeface="Segoe UI Semibold"/>
                <a:ea typeface="Segoe UI Semibold"/>
                <a:cs typeface="Segoe UI Semibold"/>
              </a:defRPr>
            </a:pPr>
            <a:r>
              <a:rPr sz="2850" b="1">
                <a:solidFill>
                  <a:srgbClr val="1B1338"/>
                </a:solidFill>
                <a:latin typeface="Segoe UI Semibold"/>
                <a:ea typeface="Segoe UI Semibold"/>
                <a:cs typeface="Segoe UI Semibold"/>
              </a:rPr>
              <a:t>Six skills in one continuous scene</a:t>
            </a:r>
          </a:p>
        </p:txBody>
      </p:sp>
      <p:sp>
        <p:nvSpPr>
          <p:cNvPr id="2" name="">
            <a:extLst xmlns:a="http://schemas.openxmlformats.org/drawingml/2006/main">
              <a:ext uri="{FF2B5EF4-FFF2-40B4-BE49-F238E27FC236}">
                <a16:creationId xmlns:a16="http://schemas.microsoft.com/office/drawing/2014/main" id="{862C8304-F65D-43D9-A174-31756E8AF6D6}"/>
              </a:ext>
            </a:extLst>
          </p:cNvPr>
          <p:cNvSpPr>
            <a:spLocks xmlns:a="http://schemas.openxmlformats.org/drawingml/2006/main" noGrp="1"/>
          </p:cNvSpPr>
          <p:nvPr/>
        </p:nvSpPr>
        <p:spPr>
          <a:xfrm xmlns:a="http://schemas.openxmlformats.org/drawingml/2006/main">
            <a:off x="609600" y="1200150"/>
            <a:ext cx="342900" cy="38100"/>
          </a:xfrm>
          <a:prstGeom xmlns:a="http://schemas.openxmlformats.org/drawingml/2006/main" prst="rect">
            <a:avLst/>
          </a:prstGeom>
          <a:solidFill xmlns:a="http://schemas.openxmlformats.org/drawingml/2006/main">
            <a:srgbClr val="29AB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579758C-1CFA-40F7-950D-6CE8210BBA17}"/>
              </a:ext>
            </a:extLst>
          </p:cNvPr>
          <p:cNvSpPr>
            <a:spLocks xmlns:a="http://schemas.openxmlformats.org/drawingml/2006/main" noGrp="1"/>
          </p:cNvSpPr>
          <p:nvPr/>
        </p:nvSpPr>
        <p:spPr>
          <a:xfrm xmlns:a="http://schemas.openxmlformats.org/drawingml/2006/main">
            <a:off x="609600" y="6467475"/>
            <a:ext cx="109728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AC22AD4A-C82B-4605-A72F-58184E3168A4}"/>
              </a:ext>
            </a:extLst>
          </p:cNvPr>
          <p:cNvSpPr>
            <a:spLocks xmlns:a="http://schemas.openxmlformats.org/drawingml/2006/main" noGrp="1"/>
          </p:cNvSpPr>
          <p:nvPr/>
        </p:nvSpPr>
        <p:spPr>
          <a:xfrm xmlns:a="http://schemas.openxmlformats.org/drawingml/2006/main">
            <a:off x="609600" y="65627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Talos</a:t>
            </a:r>
          </a:p>
        </p:txBody>
      </p:sp>
      <p:sp>
        <p:nvSpPr>
          <p:cNvPr id="5" name="Page">
            <a:extLst xmlns:a="http://schemas.openxmlformats.org/drawingml/2006/main">
              <a:ext uri="{FF2B5EF4-FFF2-40B4-BE49-F238E27FC236}">
                <a16:creationId xmlns:a16="http://schemas.microsoft.com/office/drawing/2014/main" id="{F2A8D07F-CB96-45D2-BE98-BAAEF1D93DEE}"/>
              </a:ext>
            </a:extLst>
          </p:cNvPr>
          <p:cNvSpPr>
            <a:spLocks xmlns:a="http://schemas.openxmlformats.org/drawingml/2006/main" noGrp="1"/>
          </p:cNvSpPr>
          <p:nvPr/>
        </p:nvSpPr>
        <p:spPr>
          <a:xfrm xmlns:a="http://schemas.openxmlformats.org/drawingml/2006/main">
            <a:off x="11125200" y="6562725"/>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02</a:t>
            </a:r>
          </a:p>
        </p:txBody>
      </p:sp>
      <p:sp>
        <p:nvSpPr>
          <p:cNvPr id="6" name="Voice command">
            <a:extLst xmlns:a="http://schemas.openxmlformats.org/drawingml/2006/main">
              <a:ext uri="{FF2B5EF4-FFF2-40B4-BE49-F238E27FC236}">
                <a16:creationId xmlns:a16="http://schemas.microsoft.com/office/drawing/2014/main" id="{78A8F5DF-EB4E-43F7-98A8-CF76385DE566}"/>
              </a:ext>
            </a:extLst>
          </p:cNvPr>
          <p:cNvSpPr>
            <a:spLocks xmlns:a="http://schemas.openxmlformats.org/drawingml/2006/main" noGrp="1"/>
          </p:cNvSpPr>
          <p:nvPr/>
        </p:nvSpPr>
        <p:spPr>
          <a:xfrm xmlns:a="http://schemas.openxmlformats.org/drawingml/2006/main">
            <a:off x="609600" y="14954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3000" b="0">
                <a:solidFill>
                  <a:srgbClr val="1B1338"/>
                </a:solidFill>
                <a:latin typeface="Segoe UI"/>
                <a:ea typeface="Segoe UI"/>
                <a:cs typeface="Segoe UI"/>
              </a:defRPr>
            </a:pPr>
            <a:r>
              <a:rPr sz="3000" b="0">
                <a:solidFill>
                  <a:srgbClr val="1B1338"/>
                </a:solidFill>
                <a:latin typeface="Segoe UI"/>
                <a:ea typeface="Segoe UI"/>
                <a:cs typeface="Segoe UI"/>
              </a:rPr>
              <a:t>“Set the table”</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e29af172578408f"/>
          <a:srcRect xmlns:a="http://schemas.openxmlformats.org/drawingml/2006/main" l="0" t="7000" r="0" b="0"/>
          <a:stretch xmlns:a="http://schemas.openxmlformats.org/drawingml/2006/main"/>
        </p:blipFill>
        <p:spPr>
          <a:xfrm xmlns:a="http://schemas.openxmlformats.org/drawingml/2006/main">
            <a:off x="609600" y="2362200"/>
            <a:ext cx="7096125" cy="3711893"/>
          </a:xfrm>
          <a:prstGeom xmlns:a="http://schemas.openxmlformats.org/drawingml/2006/main" prst="rect">
            <a:avLst/>
          </a:prstGeom>
        </p:spPr>
      </p:pic>
      <p:sp>
        <p:nvSpPr>
          <p:cNvPr id="8" name="Step 1">
            <a:extLst xmlns:a="http://schemas.openxmlformats.org/drawingml/2006/main">
              <a:ext uri="{FF2B5EF4-FFF2-40B4-BE49-F238E27FC236}">
                <a16:creationId xmlns:a16="http://schemas.microsoft.com/office/drawing/2014/main" id="{B1A52AD3-CF05-4BBD-BD65-2542D67FEAB4}"/>
              </a:ext>
            </a:extLst>
          </p:cNvPr>
          <p:cNvSpPr>
            <a:spLocks xmlns:a="http://schemas.openxmlformats.org/drawingml/2006/main" noGrp="1"/>
          </p:cNvSpPr>
          <p:nvPr/>
        </p:nvSpPr>
        <p:spPr>
          <a:xfrm xmlns:a="http://schemas.openxmlformats.org/drawingml/2006/main">
            <a:off x="8210550" y="17621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275" b="1">
                <a:solidFill>
                  <a:srgbClr val="29ABE2"/>
                </a:solidFill>
                <a:latin typeface="Segoe UI Semibold"/>
                <a:ea typeface="Segoe UI Semibold"/>
                <a:cs typeface="Segoe UI Semibold"/>
              </a:defRPr>
            </a:pPr>
            <a:r>
              <a:rPr sz="1275" b="1">
                <a:solidFill>
                  <a:srgbClr val="29ABE2"/>
                </a:solidFill>
                <a:latin typeface="Segoe UI Semibold"/>
                <a:ea typeface="Segoe UI Semibold"/>
                <a:cs typeface="Segoe UI Semibold"/>
              </a:rPr>
              <a:t>01</a:t>
            </a:r>
          </a:p>
        </p:txBody>
      </p:sp>
      <p:sp>
        <p:nvSpPr>
          <p:cNvPr id="9" name="Skill 1">
            <a:extLst xmlns:a="http://schemas.openxmlformats.org/drawingml/2006/main">
              <a:ext uri="{FF2B5EF4-FFF2-40B4-BE49-F238E27FC236}">
                <a16:creationId xmlns:a16="http://schemas.microsoft.com/office/drawing/2014/main" id="{89FB5983-4C03-49A2-B854-2203DA3FD349}"/>
              </a:ext>
            </a:extLst>
          </p:cNvPr>
          <p:cNvSpPr>
            <a:spLocks xmlns:a="http://schemas.openxmlformats.org/drawingml/2006/main" noGrp="1"/>
          </p:cNvSpPr>
          <p:nvPr/>
        </p:nvSpPr>
        <p:spPr>
          <a:xfrm xmlns:a="http://schemas.openxmlformats.org/drawingml/2006/main">
            <a:off x="8667750" y="1724025"/>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725" b="1">
                <a:solidFill>
                  <a:srgbClr val="1B1338"/>
                </a:solidFill>
                <a:latin typeface="Segoe UI Semibold"/>
                <a:ea typeface="Segoe UI Semibold"/>
                <a:cs typeface="Segoe UI Semibold"/>
              </a:defRPr>
            </a:pPr>
            <a:r>
              <a:rPr sz="1725" b="1">
                <a:solidFill>
                  <a:srgbClr val="1B1338"/>
                </a:solidFill>
                <a:latin typeface="Segoe UI Semibold"/>
                <a:ea typeface="Segoe UI Semibold"/>
                <a:cs typeface="Segoe UI Semibold"/>
              </a:rPr>
              <a:t>Place the bottle</a:t>
            </a:r>
          </a:p>
        </p:txBody>
      </p:sp>
      <p:sp>
        <p:nvSpPr>
          <p:cNvPr id="10" name="Step 2">
            <a:extLst xmlns:a="http://schemas.openxmlformats.org/drawingml/2006/main">
              <a:ext uri="{FF2B5EF4-FFF2-40B4-BE49-F238E27FC236}">
                <a16:creationId xmlns:a16="http://schemas.microsoft.com/office/drawing/2014/main" id="{699126CE-965C-4125-B15D-AC717F57F011}"/>
              </a:ext>
            </a:extLst>
          </p:cNvPr>
          <p:cNvSpPr>
            <a:spLocks xmlns:a="http://schemas.openxmlformats.org/drawingml/2006/main" noGrp="1"/>
          </p:cNvSpPr>
          <p:nvPr/>
        </p:nvSpPr>
        <p:spPr>
          <a:xfrm xmlns:a="http://schemas.openxmlformats.org/drawingml/2006/main">
            <a:off x="8210550" y="2286000"/>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275" b="1">
                <a:solidFill>
                  <a:srgbClr val="29ABE2"/>
                </a:solidFill>
                <a:latin typeface="Segoe UI Semibold"/>
                <a:ea typeface="Segoe UI Semibold"/>
                <a:cs typeface="Segoe UI Semibold"/>
              </a:defRPr>
            </a:pPr>
            <a:r>
              <a:rPr sz="1275" b="1">
                <a:solidFill>
                  <a:srgbClr val="29ABE2"/>
                </a:solidFill>
                <a:latin typeface="Segoe UI Semibold"/>
                <a:ea typeface="Segoe UI Semibold"/>
                <a:cs typeface="Segoe UI Semibold"/>
              </a:rPr>
              <a:t>02</a:t>
            </a:r>
          </a:p>
        </p:txBody>
      </p:sp>
      <p:sp>
        <p:nvSpPr>
          <p:cNvPr id="11" name="Skill 2">
            <a:extLst xmlns:a="http://schemas.openxmlformats.org/drawingml/2006/main">
              <a:ext uri="{FF2B5EF4-FFF2-40B4-BE49-F238E27FC236}">
                <a16:creationId xmlns:a16="http://schemas.microsoft.com/office/drawing/2014/main" id="{6B40263B-90C9-4AD6-8005-3DDF69EB9AB1}"/>
              </a:ext>
            </a:extLst>
          </p:cNvPr>
          <p:cNvSpPr>
            <a:spLocks xmlns:a="http://schemas.openxmlformats.org/drawingml/2006/main" noGrp="1"/>
          </p:cNvSpPr>
          <p:nvPr/>
        </p:nvSpPr>
        <p:spPr>
          <a:xfrm xmlns:a="http://schemas.openxmlformats.org/drawingml/2006/main">
            <a:off x="8667750" y="224790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725" b="0">
                <a:solidFill>
                  <a:srgbClr val="1B1338"/>
                </a:solidFill>
                <a:latin typeface="Segoe UI"/>
                <a:ea typeface="Segoe UI"/>
                <a:cs typeface="Segoe UI"/>
              </a:defRPr>
            </a:pPr>
            <a:r>
              <a:rPr sz="1725" b="0">
                <a:solidFill>
                  <a:srgbClr val="1B1338"/>
                </a:solidFill>
                <a:latin typeface="Segoe UI"/>
                <a:ea typeface="Segoe UI"/>
                <a:cs typeface="Segoe UI"/>
              </a:rPr>
              <a:t>Place the plate</a:t>
            </a:r>
          </a:p>
        </p:txBody>
      </p:sp>
      <p:sp>
        <p:nvSpPr>
          <p:cNvPr id="12" name="Step 3">
            <a:extLst xmlns:a="http://schemas.openxmlformats.org/drawingml/2006/main">
              <a:ext uri="{FF2B5EF4-FFF2-40B4-BE49-F238E27FC236}">
                <a16:creationId xmlns:a16="http://schemas.microsoft.com/office/drawing/2014/main" id="{78337DAC-6441-4695-B38C-27D283597831}"/>
              </a:ext>
            </a:extLst>
          </p:cNvPr>
          <p:cNvSpPr>
            <a:spLocks xmlns:a="http://schemas.openxmlformats.org/drawingml/2006/main" noGrp="1"/>
          </p:cNvSpPr>
          <p:nvPr/>
        </p:nvSpPr>
        <p:spPr>
          <a:xfrm xmlns:a="http://schemas.openxmlformats.org/drawingml/2006/main">
            <a:off x="8210550" y="280987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275" b="1">
                <a:solidFill>
                  <a:srgbClr val="29ABE2"/>
                </a:solidFill>
                <a:latin typeface="Segoe UI Semibold"/>
                <a:ea typeface="Segoe UI Semibold"/>
                <a:cs typeface="Segoe UI Semibold"/>
              </a:defRPr>
            </a:pPr>
            <a:r>
              <a:rPr sz="1275" b="1">
                <a:solidFill>
                  <a:srgbClr val="29ABE2"/>
                </a:solidFill>
                <a:latin typeface="Segoe UI Semibold"/>
                <a:ea typeface="Segoe UI Semibold"/>
                <a:cs typeface="Segoe UI Semibold"/>
              </a:rPr>
              <a:t>03</a:t>
            </a:r>
          </a:p>
        </p:txBody>
      </p:sp>
      <p:sp>
        <p:nvSpPr>
          <p:cNvPr id="13" name="Skill 3">
            <a:extLst xmlns:a="http://schemas.openxmlformats.org/drawingml/2006/main">
              <a:ext uri="{FF2B5EF4-FFF2-40B4-BE49-F238E27FC236}">
                <a16:creationId xmlns:a16="http://schemas.microsoft.com/office/drawing/2014/main" id="{FEF1FCC9-C5DE-484F-A0C3-33E4F3A3CE74}"/>
              </a:ext>
            </a:extLst>
          </p:cNvPr>
          <p:cNvSpPr>
            <a:spLocks xmlns:a="http://schemas.openxmlformats.org/drawingml/2006/main" noGrp="1"/>
          </p:cNvSpPr>
          <p:nvPr/>
        </p:nvSpPr>
        <p:spPr>
          <a:xfrm xmlns:a="http://schemas.openxmlformats.org/drawingml/2006/main">
            <a:off x="8667750" y="2771775"/>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725" b="0">
                <a:solidFill>
                  <a:srgbClr val="1B1338"/>
                </a:solidFill>
                <a:latin typeface="Segoe UI"/>
                <a:ea typeface="Segoe UI"/>
                <a:cs typeface="Segoe UI"/>
              </a:defRPr>
            </a:pPr>
            <a:r>
              <a:rPr sz="1725" b="0">
                <a:solidFill>
                  <a:srgbClr val="1B1338"/>
                </a:solidFill>
                <a:latin typeface="Segoe UI"/>
                <a:ea typeface="Segoe UI"/>
                <a:cs typeface="Segoe UI"/>
              </a:rPr>
              <a:t>Place the mug</a:t>
            </a:r>
          </a:p>
        </p:txBody>
      </p:sp>
      <p:sp>
        <p:nvSpPr>
          <p:cNvPr id="14" name="Step 4">
            <a:extLst xmlns:a="http://schemas.openxmlformats.org/drawingml/2006/main">
              <a:ext uri="{FF2B5EF4-FFF2-40B4-BE49-F238E27FC236}">
                <a16:creationId xmlns:a16="http://schemas.microsoft.com/office/drawing/2014/main" id="{C33B866B-B2BE-4FE6-9F21-01C1A9D8D7CC}"/>
              </a:ext>
            </a:extLst>
          </p:cNvPr>
          <p:cNvSpPr>
            <a:spLocks xmlns:a="http://schemas.openxmlformats.org/drawingml/2006/main" noGrp="1"/>
          </p:cNvSpPr>
          <p:nvPr/>
        </p:nvSpPr>
        <p:spPr>
          <a:xfrm xmlns:a="http://schemas.openxmlformats.org/drawingml/2006/main">
            <a:off x="8210550" y="3333750"/>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275" b="1">
                <a:solidFill>
                  <a:srgbClr val="29ABE2"/>
                </a:solidFill>
                <a:latin typeface="Segoe UI Semibold"/>
                <a:ea typeface="Segoe UI Semibold"/>
                <a:cs typeface="Segoe UI Semibold"/>
              </a:defRPr>
            </a:pPr>
            <a:r>
              <a:rPr sz="1275" b="1">
                <a:solidFill>
                  <a:srgbClr val="29ABE2"/>
                </a:solidFill>
                <a:latin typeface="Segoe UI Semibold"/>
                <a:ea typeface="Segoe UI Semibold"/>
                <a:cs typeface="Segoe UI Semibold"/>
              </a:rPr>
              <a:t>04</a:t>
            </a:r>
          </a:p>
        </p:txBody>
      </p:sp>
      <p:sp>
        <p:nvSpPr>
          <p:cNvPr id="15" name="Skill 4">
            <a:extLst xmlns:a="http://schemas.openxmlformats.org/drawingml/2006/main">
              <a:ext uri="{FF2B5EF4-FFF2-40B4-BE49-F238E27FC236}">
                <a16:creationId xmlns:a16="http://schemas.microsoft.com/office/drawing/2014/main" id="{97CD244C-709E-41C3-A8DB-887AFE588FFD}"/>
              </a:ext>
            </a:extLst>
          </p:cNvPr>
          <p:cNvSpPr>
            <a:spLocks xmlns:a="http://schemas.openxmlformats.org/drawingml/2006/main" noGrp="1"/>
          </p:cNvSpPr>
          <p:nvPr/>
        </p:nvSpPr>
        <p:spPr>
          <a:xfrm xmlns:a="http://schemas.openxmlformats.org/drawingml/2006/main">
            <a:off x="8667750" y="329565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725" b="0">
                <a:solidFill>
                  <a:srgbClr val="1B1338"/>
                </a:solidFill>
                <a:latin typeface="Segoe UI"/>
                <a:ea typeface="Segoe UI"/>
                <a:cs typeface="Segoe UI"/>
              </a:defRPr>
            </a:pPr>
            <a:r>
              <a:rPr sz="1725" b="0">
                <a:solidFill>
                  <a:srgbClr val="1B1338"/>
                </a:solidFill>
                <a:latin typeface="Segoe UI"/>
                <a:ea typeface="Segoe UI"/>
                <a:cs typeface="Segoe UI"/>
              </a:rPr>
              <a:t>Open the drawer</a:t>
            </a:r>
          </a:p>
        </p:txBody>
      </p:sp>
      <p:sp>
        <p:nvSpPr>
          <p:cNvPr id="16" name="Step 5">
            <a:extLst xmlns:a="http://schemas.openxmlformats.org/drawingml/2006/main">
              <a:ext uri="{FF2B5EF4-FFF2-40B4-BE49-F238E27FC236}">
                <a16:creationId xmlns:a16="http://schemas.microsoft.com/office/drawing/2014/main" id="{B1900863-2DCD-423E-9737-B0DF31978DB4}"/>
              </a:ext>
            </a:extLst>
          </p:cNvPr>
          <p:cNvSpPr>
            <a:spLocks xmlns:a="http://schemas.openxmlformats.org/drawingml/2006/main" noGrp="1"/>
          </p:cNvSpPr>
          <p:nvPr/>
        </p:nvSpPr>
        <p:spPr>
          <a:xfrm xmlns:a="http://schemas.openxmlformats.org/drawingml/2006/main">
            <a:off x="8210550" y="3857625"/>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275" b="1">
                <a:solidFill>
                  <a:srgbClr val="29ABE2"/>
                </a:solidFill>
                <a:latin typeface="Segoe UI Semibold"/>
                <a:ea typeface="Segoe UI Semibold"/>
                <a:cs typeface="Segoe UI Semibold"/>
              </a:defRPr>
            </a:pPr>
            <a:r>
              <a:rPr sz="1275" b="1">
                <a:solidFill>
                  <a:srgbClr val="29ABE2"/>
                </a:solidFill>
                <a:latin typeface="Segoe UI Semibold"/>
                <a:ea typeface="Segoe UI Semibold"/>
                <a:cs typeface="Segoe UI Semibold"/>
              </a:rPr>
              <a:t>05</a:t>
            </a:r>
          </a:p>
        </p:txBody>
      </p:sp>
      <p:sp>
        <p:nvSpPr>
          <p:cNvPr id="17" name="Skill 5">
            <a:extLst xmlns:a="http://schemas.openxmlformats.org/drawingml/2006/main">
              <a:ext uri="{FF2B5EF4-FFF2-40B4-BE49-F238E27FC236}">
                <a16:creationId xmlns:a16="http://schemas.microsoft.com/office/drawing/2014/main" id="{8C6F3C59-76A3-481F-B56E-91D3C4D99234}"/>
              </a:ext>
            </a:extLst>
          </p:cNvPr>
          <p:cNvSpPr>
            <a:spLocks xmlns:a="http://schemas.openxmlformats.org/drawingml/2006/main" noGrp="1"/>
          </p:cNvSpPr>
          <p:nvPr/>
        </p:nvSpPr>
        <p:spPr>
          <a:xfrm xmlns:a="http://schemas.openxmlformats.org/drawingml/2006/main">
            <a:off x="8667750" y="3819525"/>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725" b="0">
                <a:solidFill>
                  <a:srgbClr val="1B1338"/>
                </a:solidFill>
                <a:latin typeface="Segoe UI"/>
                <a:ea typeface="Segoe UI"/>
                <a:cs typeface="Segoe UI"/>
              </a:defRPr>
            </a:pPr>
            <a:r>
              <a:rPr sz="1725" b="0">
                <a:solidFill>
                  <a:srgbClr val="1B1338"/>
                </a:solidFill>
                <a:latin typeface="Segoe UI"/>
                <a:ea typeface="Segoe UI"/>
                <a:cs typeface="Segoe UI"/>
              </a:rPr>
              <a:t>Place the fork</a:t>
            </a:r>
          </a:p>
        </p:txBody>
      </p:sp>
      <p:sp>
        <p:nvSpPr>
          <p:cNvPr id="18" name="Step 6">
            <a:extLst xmlns:a="http://schemas.openxmlformats.org/drawingml/2006/main">
              <a:ext uri="{FF2B5EF4-FFF2-40B4-BE49-F238E27FC236}">
                <a16:creationId xmlns:a16="http://schemas.microsoft.com/office/drawing/2014/main" id="{7729C5B5-593E-41F2-9355-92D4045F4230}"/>
              </a:ext>
            </a:extLst>
          </p:cNvPr>
          <p:cNvSpPr>
            <a:spLocks xmlns:a="http://schemas.openxmlformats.org/drawingml/2006/main" noGrp="1"/>
          </p:cNvSpPr>
          <p:nvPr/>
        </p:nvSpPr>
        <p:spPr>
          <a:xfrm xmlns:a="http://schemas.openxmlformats.org/drawingml/2006/main">
            <a:off x="8210550" y="4381500"/>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275" b="1">
                <a:solidFill>
                  <a:srgbClr val="29ABE2"/>
                </a:solidFill>
                <a:latin typeface="Segoe UI Semibold"/>
                <a:ea typeface="Segoe UI Semibold"/>
                <a:cs typeface="Segoe UI Semibold"/>
              </a:defRPr>
            </a:pPr>
            <a:r>
              <a:rPr sz="1275" b="1">
                <a:solidFill>
                  <a:srgbClr val="29ABE2"/>
                </a:solidFill>
                <a:latin typeface="Segoe UI Semibold"/>
                <a:ea typeface="Segoe UI Semibold"/>
                <a:cs typeface="Segoe UI Semibold"/>
              </a:rPr>
              <a:t>06</a:t>
            </a:r>
          </a:p>
        </p:txBody>
      </p:sp>
      <p:sp>
        <p:nvSpPr>
          <p:cNvPr id="19" name="Skill 6">
            <a:extLst xmlns:a="http://schemas.openxmlformats.org/drawingml/2006/main">
              <a:ext uri="{FF2B5EF4-FFF2-40B4-BE49-F238E27FC236}">
                <a16:creationId xmlns:a16="http://schemas.microsoft.com/office/drawing/2014/main" id="{5A0B7850-728B-47E7-99E1-86CBC0A1EC9D}"/>
              </a:ext>
            </a:extLst>
          </p:cNvPr>
          <p:cNvSpPr>
            <a:spLocks xmlns:a="http://schemas.openxmlformats.org/drawingml/2006/main" noGrp="1"/>
          </p:cNvSpPr>
          <p:nvPr/>
        </p:nvSpPr>
        <p:spPr>
          <a:xfrm xmlns:a="http://schemas.openxmlformats.org/drawingml/2006/main">
            <a:off x="8667750" y="434340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725" b="0">
                <a:solidFill>
                  <a:srgbClr val="1B1338"/>
                </a:solidFill>
                <a:latin typeface="Segoe UI"/>
                <a:ea typeface="Segoe UI"/>
                <a:cs typeface="Segoe UI"/>
              </a:defRPr>
            </a:pPr>
            <a:r>
              <a:rPr sz="1725" b="0">
                <a:solidFill>
                  <a:srgbClr val="1B1338"/>
                </a:solidFill>
                <a:latin typeface="Segoe UI"/>
                <a:ea typeface="Segoe UI"/>
                <a:cs typeface="Segoe UI"/>
              </a:rPr>
              <a:t>Place the spoon</a:t>
            </a:r>
          </a:p>
        </p:txBody>
      </p:sp>
      <p:sp>
        <p:nvSpPr>
          <p:cNvPr id="20" name="">
            <a:extLst xmlns:a="http://schemas.openxmlformats.org/drawingml/2006/main">
              <a:ext uri="{FF2B5EF4-FFF2-40B4-BE49-F238E27FC236}">
                <a16:creationId xmlns:a16="http://schemas.microsoft.com/office/drawing/2014/main" id="{82B335B9-5114-4FC7-92F9-2AFB2FCFAB35}"/>
              </a:ext>
            </a:extLst>
          </p:cNvPr>
          <p:cNvSpPr>
            <a:spLocks xmlns:a="http://schemas.openxmlformats.org/drawingml/2006/main" noGrp="1"/>
          </p:cNvSpPr>
          <p:nvPr/>
        </p:nvSpPr>
        <p:spPr>
          <a:xfrm xmlns:a="http://schemas.openxmlformats.org/drawingml/2006/main">
            <a:off x="8210550" y="5029200"/>
            <a:ext cx="337185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21" name="Human voice result">
            <a:extLst xmlns:a="http://schemas.openxmlformats.org/drawingml/2006/main">
              <a:ext uri="{FF2B5EF4-FFF2-40B4-BE49-F238E27FC236}">
                <a16:creationId xmlns:a16="http://schemas.microsoft.com/office/drawing/2014/main" id="{F5A3B345-A15E-48E6-96D6-83281A7C1BB5}"/>
              </a:ext>
            </a:extLst>
          </p:cNvPr>
          <p:cNvSpPr>
            <a:spLocks xmlns:a="http://schemas.openxmlformats.org/drawingml/2006/main" noGrp="1"/>
          </p:cNvSpPr>
          <p:nvPr/>
        </p:nvSpPr>
        <p:spPr>
          <a:xfrm xmlns:a="http://schemas.openxmlformats.org/drawingml/2006/main">
            <a:off x="8210550" y="5238750"/>
            <a:ext cx="3371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500" b="0">
                <a:solidFill>
                  <a:srgbClr val="2B373B"/>
                </a:solidFill>
                <a:latin typeface="Segoe UI"/>
                <a:ea typeface="Segoe UI"/>
                <a:cs typeface="Segoe UI"/>
              </a:defRPr>
            </a:pPr>
            <a:r>
              <a:rPr sz="1500" b="0">
                <a:solidFill>
                  <a:srgbClr val="2B373B"/>
                </a:solidFill>
                <a:latin typeface="Segoe UI"/>
                <a:ea typeface="Segoe UI"/>
                <a:cs typeface="Segoe UI"/>
              </a:rPr>
              <a:t>The human voice rehearsal completed all six skills with 15 live mug corrections.</a:t>
            </a:r>
          </a:p>
        </p:txBody>
      </p:sp>
    </p:spTree>
    <p:extLst>
      <p:ext uri="{BB962C8B-B14F-4D97-AF65-F5344CB8AC3E}">
        <p14:creationId xmlns:p14="http://schemas.microsoft.com/office/powerpoint/2010/main" val="10382857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 title">
            <a:extLst xmlns:a="http://schemas.openxmlformats.org/drawingml/2006/main">
              <a:ext uri="{FF2B5EF4-FFF2-40B4-BE49-F238E27FC236}">
                <a16:creationId xmlns:a16="http://schemas.microsoft.com/office/drawing/2014/main" id="{35DE7BAA-CA13-41A7-9CCE-2692F7715928}"/>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850" b="1">
                <a:solidFill>
                  <a:srgbClr val="1B1338"/>
                </a:solidFill>
                <a:latin typeface="Segoe UI Semibold"/>
                <a:ea typeface="Segoe UI Semibold"/>
                <a:cs typeface="Segoe UI Semibold"/>
              </a:defRPr>
            </a:pPr>
            <a:r>
              <a:rPr sz="2850" b="1">
                <a:solidFill>
                  <a:srgbClr val="1B1338"/>
                </a:solidFill>
                <a:latin typeface="Segoe UI Semibold"/>
                <a:ea typeface="Segoe UI Semibold"/>
                <a:cs typeface="Segoe UI Semibold"/>
              </a:rPr>
              <a:t>Learned motion with separate physical checks</a:t>
            </a:r>
          </a:p>
        </p:txBody>
      </p:sp>
      <p:sp>
        <p:nvSpPr>
          <p:cNvPr id="2" name="">
            <a:extLst xmlns:a="http://schemas.openxmlformats.org/drawingml/2006/main">
              <a:ext uri="{FF2B5EF4-FFF2-40B4-BE49-F238E27FC236}">
                <a16:creationId xmlns:a16="http://schemas.microsoft.com/office/drawing/2014/main" id="{80449EC0-DB18-4C17-97AB-8F683D9F6D4E}"/>
              </a:ext>
            </a:extLst>
          </p:cNvPr>
          <p:cNvSpPr>
            <a:spLocks xmlns:a="http://schemas.openxmlformats.org/drawingml/2006/main" noGrp="1"/>
          </p:cNvSpPr>
          <p:nvPr/>
        </p:nvSpPr>
        <p:spPr>
          <a:xfrm xmlns:a="http://schemas.openxmlformats.org/drawingml/2006/main">
            <a:off x="609600" y="1200150"/>
            <a:ext cx="342900" cy="38100"/>
          </a:xfrm>
          <a:prstGeom xmlns:a="http://schemas.openxmlformats.org/drawingml/2006/main" prst="rect">
            <a:avLst/>
          </a:prstGeom>
          <a:solidFill xmlns:a="http://schemas.openxmlformats.org/drawingml/2006/main">
            <a:srgbClr val="29AB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36234FD-2A7A-4217-BB27-D795136EC73B}"/>
              </a:ext>
            </a:extLst>
          </p:cNvPr>
          <p:cNvSpPr>
            <a:spLocks xmlns:a="http://schemas.openxmlformats.org/drawingml/2006/main" noGrp="1"/>
          </p:cNvSpPr>
          <p:nvPr/>
        </p:nvSpPr>
        <p:spPr>
          <a:xfrm xmlns:a="http://schemas.openxmlformats.org/drawingml/2006/main">
            <a:off x="609600" y="6467475"/>
            <a:ext cx="109728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C3B9A9D7-9668-4CA6-98B1-C3A164678353}"/>
              </a:ext>
            </a:extLst>
          </p:cNvPr>
          <p:cNvSpPr>
            <a:spLocks xmlns:a="http://schemas.openxmlformats.org/drawingml/2006/main" noGrp="1"/>
          </p:cNvSpPr>
          <p:nvPr/>
        </p:nvSpPr>
        <p:spPr>
          <a:xfrm xmlns:a="http://schemas.openxmlformats.org/drawingml/2006/main">
            <a:off x="609600" y="65627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Talos</a:t>
            </a:r>
          </a:p>
        </p:txBody>
      </p:sp>
      <p:sp>
        <p:nvSpPr>
          <p:cNvPr id="5" name="Page">
            <a:extLst xmlns:a="http://schemas.openxmlformats.org/drawingml/2006/main">
              <a:ext uri="{FF2B5EF4-FFF2-40B4-BE49-F238E27FC236}">
                <a16:creationId xmlns:a16="http://schemas.microsoft.com/office/drawing/2014/main" id="{D646BD49-B8F8-4073-B97B-FEEA50ABB0E4}"/>
              </a:ext>
            </a:extLst>
          </p:cNvPr>
          <p:cNvSpPr>
            <a:spLocks xmlns:a="http://schemas.openxmlformats.org/drawingml/2006/main" noGrp="1"/>
          </p:cNvSpPr>
          <p:nvPr/>
        </p:nvSpPr>
        <p:spPr>
          <a:xfrm xmlns:a="http://schemas.openxmlformats.org/drawingml/2006/main">
            <a:off x="11125200" y="6562725"/>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03</a:t>
            </a:r>
          </a:p>
        </p:txBody>
      </p:sp>
      <p:sp>
        <p:nvSpPr>
          <p:cNvPr id="6" name="Learned heading">
            <a:extLst xmlns:a="http://schemas.openxmlformats.org/drawingml/2006/main">
              <a:ext uri="{FF2B5EF4-FFF2-40B4-BE49-F238E27FC236}">
                <a16:creationId xmlns:a16="http://schemas.microsoft.com/office/drawing/2014/main" id="{8DCFB3EC-0D7B-4D53-9627-66219011808B}"/>
              </a:ext>
            </a:extLst>
          </p:cNvPr>
          <p:cNvSpPr>
            <a:spLocks xmlns:a="http://schemas.openxmlformats.org/drawingml/2006/main" noGrp="1"/>
          </p:cNvSpPr>
          <p:nvPr/>
        </p:nvSpPr>
        <p:spPr>
          <a:xfrm xmlns:a="http://schemas.openxmlformats.org/drawingml/2006/main">
            <a:off x="609600" y="1609725"/>
            <a:ext cx="609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400" b="1">
                <a:solidFill>
                  <a:srgbClr val="1B1338"/>
                </a:solidFill>
                <a:latin typeface="Segoe UI Semibold"/>
                <a:ea typeface="Segoe UI Semibold"/>
                <a:cs typeface="Segoe UI Semibold"/>
              </a:defRPr>
            </a:pPr>
            <a:r>
              <a:rPr sz="2400" b="1">
                <a:solidFill>
                  <a:srgbClr val="1B1338"/>
                </a:solidFill>
                <a:latin typeface="Segoe UI Semibold"/>
                <a:ea typeface="Segoe UI Semibold"/>
                <a:cs typeface="Segoe UI Semibold"/>
              </a:rPr>
              <a:t>The network generates movement</a:t>
            </a:r>
          </a:p>
        </p:txBody>
      </p:sp>
      <p:sp>
        <p:nvSpPr>
          <p:cNvPr id="7" name="Motor model">
            <a:extLst xmlns:a="http://schemas.openxmlformats.org/drawingml/2006/main">
              <a:ext uri="{FF2B5EF4-FFF2-40B4-BE49-F238E27FC236}">
                <a16:creationId xmlns:a16="http://schemas.microsoft.com/office/drawing/2014/main" id="{7CD295B7-BC1F-499C-BD67-769CDC27384F}"/>
              </a:ext>
            </a:extLst>
          </p:cNvPr>
          <p:cNvSpPr>
            <a:spLocks xmlns:a="http://schemas.openxmlformats.org/drawingml/2006/main" noGrp="1"/>
          </p:cNvSpPr>
          <p:nvPr/>
        </p:nvSpPr>
        <p:spPr>
          <a:xfrm xmlns:a="http://schemas.openxmlformats.org/drawingml/2006/main">
            <a:off x="609600" y="278130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950" b="0">
                <a:solidFill>
                  <a:srgbClr val="2B373B"/>
                </a:solidFill>
                <a:latin typeface="Segoe UI"/>
                <a:ea typeface="Segoe UI"/>
                <a:cs typeface="Segoe UI"/>
              </a:defRPr>
            </a:pPr>
            <a:r>
              <a:rPr sz="1950" b="0">
                <a:solidFill>
                  <a:srgbClr val="2B373B"/>
                </a:solidFill>
                <a:latin typeface="Segoe UI"/>
                <a:ea typeface="Segoe UI"/>
                <a:cs typeface="Segoe UI"/>
              </a:rPr>
              <a:t>Camera features condition neural joint trajectories.</a:t>
            </a:r>
          </a:p>
          <a:p xmlns:a="http://schemas.openxmlformats.org/drawingml/2006/main">
            <a:pPr>
              <a:lnSpc>
                <a:spcPct val="120000"/>
              </a:lnSpc>
              <a:buNone/>
              <a:defRPr sz="1950" b="0">
                <a:solidFill>
                  <a:srgbClr val="2B373B"/>
                </a:solidFill>
                <a:latin typeface="Segoe UI"/>
                <a:ea typeface="Segoe UI"/>
                <a:cs typeface="Segoe UI"/>
              </a:defRPr>
            </a:pPr>
            <a:r>
              <a:rPr sz="1950" b="0">
                <a:solidFill>
                  <a:srgbClr val="2B373B"/>
                </a:solidFill>
                <a:latin typeface="Segoe UI"/>
                <a:ea typeface="Segoe UI"/>
                <a:cs typeface="Segoe UI"/>
              </a:rPr>
              <a:t>Measured joint feedback regulates task progress.</a:t>
            </a:r>
          </a:p>
        </p:txBody>
      </p:sp>
      <p:sp>
        <p:nvSpPr>
          <p:cNvPr id="8" name="Visual correction">
            <a:extLst xmlns:a="http://schemas.openxmlformats.org/drawingml/2006/main">
              <a:ext uri="{FF2B5EF4-FFF2-40B4-BE49-F238E27FC236}">
                <a16:creationId xmlns:a16="http://schemas.microsoft.com/office/drawing/2014/main" id="{C035F4F0-703C-4A55-9D30-807B23AD61B1}"/>
              </a:ext>
            </a:extLst>
          </p:cNvPr>
          <p:cNvSpPr>
            <a:spLocks xmlns:a="http://schemas.openxmlformats.org/drawingml/2006/main" noGrp="1"/>
          </p:cNvSpPr>
          <p:nvPr/>
        </p:nvSpPr>
        <p:spPr>
          <a:xfrm xmlns:a="http://schemas.openxmlformats.org/drawingml/2006/main">
            <a:off x="609600" y="4171950"/>
            <a:ext cx="6000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650" b="0">
                <a:solidFill>
                  <a:srgbClr val="626262"/>
                </a:solidFill>
                <a:latin typeface="Segoe UI"/>
                <a:ea typeface="Segoe UI"/>
                <a:cs typeface="Segoe UI"/>
              </a:defRPr>
            </a:pPr>
            <a:r>
              <a:rPr sz="1650" b="0">
                <a:solidFill>
                  <a:srgbClr val="626262"/>
                </a:solidFill>
                <a:latin typeface="Segoe UI"/>
                <a:ea typeface="Segoe UI"/>
                <a:cs typeface="Segoe UI"/>
              </a:rPr>
              <a:t>The selected profile adds stereo observation and a learned local correction model during late mug placement.</a:t>
            </a:r>
          </a:p>
        </p:txBody>
      </p:sp>
      <p:sp>
        <p:nvSpPr>
          <p:cNvPr id="9" name="">
            <a:extLst xmlns:a="http://schemas.openxmlformats.org/drawingml/2006/main">
              <a:ext uri="{FF2B5EF4-FFF2-40B4-BE49-F238E27FC236}">
                <a16:creationId xmlns:a16="http://schemas.microsoft.com/office/drawing/2014/main" id="{80A86183-1AB5-469A-9871-B03D6EFD1E75}"/>
              </a:ext>
            </a:extLst>
          </p:cNvPr>
          <p:cNvSpPr>
            <a:spLocks xmlns:a="http://schemas.openxmlformats.org/drawingml/2006/main" noGrp="1"/>
          </p:cNvSpPr>
          <p:nvPr/>
        </p:nvSpPr>
        <p:spPr>
          <a:xfrm xmlns:a="http://schemas.openxmlformats.org/drawingml/2006/main">
            <a:off x="7086600" y="1657350"/>
            <a:ext cx="9525" cy="37814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10" name="Support heading 0">
            <a:extLst xmlns:a="http://schemas.openxmlformats.org/drawingml/2006/main">
              <a:ext uri="{FF2B5EF4-FFF2-40B4-BE49-F238E27FC236}">
                <a16:creationId xmlns:a16="http://schemas.microsoft.com/office/drawing/2014/main" id="{03FB70C0-EF30-4C5A-81E1-5A56A994D533}"/>
              </a:ext>
            </a:extLst>
          </p:cNvPr>
          <p:cNvSpPr>
            <a:spLocks xmlns:a="http://schemas.openxmlformats.org/drawingml/2006/main" noGrp="1"/>
          </p:cNvSpPr>
          <p:nvPr/>
        </p:nvSpPr>
        <p:spPr>
          <a:xfrm xmlns:a="http://schemas.openxmlformats.org/drawingml/2006/main">
            <a:off x="7543800" y="16573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575" b="1">
                <a:solidFill>
                  <a:srgbClr val="1B1338"/>
                </a:solidFill>
                <a:latin typeface="Segoe UI Semibold"/>
                <a:ea typeface="Segoe UI Semibold"/>
                <a:cs typeface="Segoe UI Semibold"/>
              </a:defRPr>
            </a:pPr>
            <a:r>
              <a:rPr sz="1575" b="1">
                <a:solidFill>
                  <a:srgbClr val="1B1338"/>
                </a:solidFill>
                <a:latin typeface="Segoe UI Semibold"/>
                <a:ea typeface="Segoe UI Semibold"/>
                <a:cs typeface="Segoe UI Semibold"/>
              </a:rPr>
              <a:t>Speechmatics</a:t>
            </a:r>
          </a:p>
        </p:txBody>
      </p:sp>
      <p:sp>
        <p:nvSpPr>
          <p:cNvPr id="11" name="Support description 0">
            <a:extLst xmlns:a="http://schemas.openxmlformats.org/drawingml/2006/main">
              <a:ext uri="{FF2B5EF4-FFF2-40B4-BE49-F238E27FC236}">
                <a16:creationId xmlns:a16="http://schemas.microsoft.com/office/drawing/2014/main" id="{4E1E3D93-09C2-473A-AB11-ACA3A496B823}"/>
              </a:ext>
            </a:extLst>
          </p:cNvPr>
          <p:cNvSpPr>
            <a:spLocks xmlns:a="http://schemas.openxmlformats.org/drawingml/2006/main" noGrp="1"/>
          </p:cNvSpPr>
          <p:nvPr/>
        </p:nvSpPr>
        <p:spPr>
          <a:xfrm xmlns:a="http://schemas.openxmlformats.org/drawingml/2006/main">
            <a:off x="7543800" y="2057400"/>
            <a:ext cx="4038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425" b="0">
                <a:solidFill>
                  <a:srgbClr val="626262"/>
                </a:solidFill>
                <a:latin typeface="Segoe UI"/>
                <a:ea typeface="Segoe UI"/>
                <a:cs typeface="Segoe UI"/>
              </a:defRPr>
            </a:pPr>
            <a:r>
              <a:rPr sz="1425" b="0">
                <a:solidFill>
                  <a:srgbClr val="626262"/>
                </a:solidFill>
                <a:latin typeface="Segoe UI"/>
                <a:ea typeface="Segoe UI"/>
                <a:cs typeface="Segoe UI"/>
              </a:rPr>
              <a:t>Transcribes supported spoken commands.</a:t>
            </a:r>
          </a:p>
        </p:txBody>
      </p:sp>
      <p:sp>
        <p:nvSpPr>
          <p:cNvPr id="12" name="Support heading 1">
            <a:extLst xmlns:a="http://schemas.openxmlformats.org/drawingml/2006/main">
              <a:ext uri="{FF2B5EF4-FFF2-40B4-BE49-F238E27FC236}">
                <a16:creationId xmlns:a16="http://schemas.microsoft.com/office/drawing/2014/main" id="{5F47E356-BD6A-4D6C-BB11-6AC0CF99A8F4}"/>
              </a:ext>
            </a:extLst>
          </p:cNvPr>
          <p:cNvSpPr>
            <a:spLocks xmlns:a="http://schemas.openxmlformats.org/drawingml/2006/main" noGrp="1"/>
          </p:cNvSpPr>
          <p:nvPr/>
        </p:nvSpPr>
        <p:spPr>
          <a:xfrm xmlns:a="http://schemas.openxmlformats.org/drawingml/2006/main">
            <a:off x="7543800" y="29146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575" b="1">
                <a:solidFill>
                  <a:srgbClr val="1B1338"/>
                </a:solidFill>
                <a:latin typeface="Segoe UI Semibold"/>
                <a:ea typeface="Segoe UI Semibold"/>
                <a:cs typeface="Segoe UI Semibold"/>
              </a:defRPr>
            </a:pPr>
            <a:r>
              <a:rPr sz="1575" b="1">
                <a:solidFill>
                  <a:srgbClr val="1B1338"/>
                </a:solidFill>
                <a:latin typeface="Segoe UI Semibold"/>
                <a:ea typeface="Segoe UI Semibold"/>
                <a:cs typeface="Segoe UI Semibold"/>
              </a:rPr>
              <a:t>Task grammar and RGB checks</a:t>
            </a:r>
          </a:p>
        </p:txBody>
      </p:sp>
      <p:sp>
        <p:nvSpPr>
          <p:cNvPr id="13" name="Support description 1">
            <a:extLst xmlns:a="http://schemas.openxmlformats.org/drawingml/2006/main">
              <a:ext uri="{FF2B5EF4-FFF2-40B4-BE49-F238E27FC236}">
                <a16:creationId xmlns:a16="http://schemas.microsoft.com/office/drawing/2014/main" id="{6287DAEE-BAAE-4907-925A-AC2318C9BBA7}"/>
              </a:ext>
            </a:extLst>
          </p:cNvPr>
          <p:cNvSpPr>
            <a:spLocks xmlns:a="http://schemas.openxmlformats.org/drawingml/2006/main" noGrp="1"/>
          </p:cNvSpPr>
          <p:nvPr/>
        </p:nvSpPr>
        <p:spPr>
          <a:xfrm xmlns:a="http://schemas.openxmlformats.org/drawingml/2006/main">
            <a:off x="7543800" y="3314700"/>
            <a:ext cx="4038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425" b="0">
                <a:solidFill>
                  <a:srgbClr val="626262"/>
                </a:solidFill>
                <a:latin typeface="Segoe UI"/>
                <a:ea typeface="Segoe UI"/>
                <a:cs typeface="Segoe UI"/>
              </a:defRPr>
            </a:pPr>
            <a:r>
              <a:rPr sz="1425" b="0">
                <a:solidFill>
                  <a:srgbClr val="626262"/>
                </a:solidFill>
                <a:latin typeface="Segoe UI"/>
                <a:ea typeface="Segoe UI"/>
                <a:cs typeface="Segoe UI"/>
              </a:rPr>
              <a:t>Choose the next supported skill.</a:t>
            </a:r>
          </a:p>
        </p:txBody>
      </p:sp>
      <p:sp>
        <p:nvSpPr>
          <p:cNvPr id="14" name="Support heading 2">
            <a:extLst xmlns:a="http://schemas.openxmlformats.org/drawingml/2006/main">
              <a:ext uri="{FF2B5EF4-FFF2-40B4-BE49-F238E27FC236}">
                <a16:creationId xmlns:a16="http://schemas.microsoft.com/office/drawing/2014/main" id="{1FDF2A85-978F-4E3C-B444-2DB54377325E}"/>
              </a:ext>
            </a:extLst>
          </p:cNvPr>
          <p:cNvSpPr>
            <a:spLocks xmlns:a="http://schemas.openxmlformats.org/drawingml/2006/main" noGrp="1"/>
          </p:cNvSpPr>
          <p:nvPr/>
        </p:nvSpPr>
        <p:spPr>
          <a:xfrm xmlns:a="http://schemas.openxmlformats.org/drawingml/2006/main">
            <a:off x="7543800" y="4171950"/>
            <a:ext cx="4038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575" b="1">
                <a:solidFill>
                  <a:srgbClr val="1B1338"/>
                </a:solidFill>
                <a:latin typeface="Segoe UI Semibold"/>
                <a:ea typeface="Segoe UI Semibold"/>
                <a:cs typeface="Segoe UI Semibold"/>
              </a:defRPr>
            </a:pPr>
            <a:r>
              <a:rPr sz="1575" b="1">
                <a:solidFill>
                  <a:srgbClr val="1B1338"/>
                </a:solidFill>
                <a:latin typeface="Segoe UI Semibold"/>
                <a:ea typeface="Segoe UI Semibold"/>
                <a:cs typeface="Segoe UI Semibold"/>
              </a:rPr>
              <a:t>MuJoCo physical monitor</a:t>
            </a:r>
          </a:p>
        </p:txBody>
      </p:sp>
      <p:sp>
        <p:nvSpPr>
          <p:cNvPr id="15" name="Support description 2">
            <a:extLst xmlns:a="http://schemas.openxmlformats.org/drawingml/2006/main">
              <a:ext uri="{FF2B5EF4-FFF2-40B4-BE49-F238E27FC236}">
                <a16:creationId xmlns:a16="http://schemas.microsoft.com/office/drawing/2014/main" id="{DFD5E74C-8B20-4635-9819-57852AF9AF8C}"/>
              </a:ext>
            </a:extLst>
          </p:cNvPr>
          <p:cNvSpPr>
            <a:spLocks xmlns:a="http://schemas.openxmlformats.org/drawingml/2006/main" noGrp="1"/>
          </p:cNvSpPr>
          <p:nvPr/>
        </p:nvSpPr>
        <p:spPr>
          <a:xfrm xmlns:a="http://schemas.openxmlformats.org/drawingml/2006/main">
            <a:off x="7543800" y="4572000"/>
            <a:ext cx="4038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425" b="0">
                <a:solidFill>
                  <a:srgbClr val="626262"/>
                </a:solidFill>
                <a:latin typeface="Segoe UI"/>
                <a:ea typeface="Segoe UI"/>
                <a:cs typeface="Segoe UI"/>
              </a:defRPr>
            </a:pPr>
            <a:r>
              <a:rPr sz="1425" b="0">
                <a:solidFill>
                  <a:srgbClr val="626262"/>
                </a:solidFill>
                <a:latin typeface="Segoe UI"/>
                <a:ea typeface="Segoe UI"/>
                <a:cs typeface="Segoe UI"/>
              </a:rPr>
              <a:t>Checks contact, placement and parked arms. It does not generate learned actions.</a:t>
            </a:r>
          </a:p>
        </p:txBody>
      </p:sp>
      <p:sp>
        <p:nvSpPr>
          <p:cNvPr id="16" name="">
            <a:extLst xmlns:a="http://schemas.openxmlformats.org/drawingml/2006/main">
              <a:ext uri="{FF2B5EF4-FFF2-40B4-BE49-F238E27FC236}">
                <a16:creationId xmlns:a16="http://schemas.microsoft.com/office/drawing/2014/main" id="{75B2FF61-694C-4535-9331-84AB41FF875F}"/>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17" name="Training inputs">
            <a:extLst xmlns:a="http://schemas.openxmlformats.org/drawingml/2006/main">
              <a:ext uri="{FF2B5EF4-FFF2-40B4-BE49-F238E27FC236}">
                <a16:creationId xmlns:a16="http://schemas.microsoft.com/office/drawing/2014/main" id="{072D4CF9-1FE8-47B3-9782-3F62805BB354}"/>
              </a:ext>
            </a:extLst>
          </p:cNvPr>
          <p:cNvSpPr>
            <a:spLocks xmlns:a="http://schemas.openxmlformats.org/drawingml/2006/main" noGrp="1"/>
          </p:cNvSpPr>
          <p:nvPr/>
        </p:nvSpPr>
        <p:spPr>
          <a:xfrm xmlns:a="http://schemas.openxmlformats.org/drawingml/2006/main">
            <a:off x="609600" y="577215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350" b="0">
                <a:solidFill>
                  <a:srgbClr val="2B373B"/>
                </a:solidFill>
                <a:latin typeface="Segoe UI"/>
                <a:ea typeface="Segoe UI"/>
                <a:cs typeface="Segoe UI"/>
              </a:defRPr>
            </a:pPr>
            <a:r>
              <a:rPr sz="1350" b="0">
                <a:solidFill>
                  <a:srgbClr val="2B373B"/>
                </a:solidFill>
                <a:latin typeface="Segoe UI"/>
                <a:ea typeface="Segoe UI"/>
                <a:cs typeface="Segoe UI"/>
              </a:rPr>
              <a:t>201 verified inputs for five newer dinner skills</a:t>
            </a:r>
          </a:p>
        </p:txBody>
      </p:sp>
      <p:sp>
        <p:nvSpPr>
          <p:cNvPr id="18" name="Relay inputs">
            <a:extLst xmlns:a="http://schemas.openxmlformats.org/drawingml/2006/main">
              <a:ext uri="{FF2B5EF4-FFF2-40B4-BE49-F238E27FC236}">
                <a16:creationId xmlns:a16="http://schemas.microsoft.com/office/drawing/2014/main" id="{01302593-A542-470F-BA31-86E1D29CB6EF}"/>
              </a:ext>
            </a:extLst>
          </p:cNvPr>
          <p:cNvSpPr>
            <a:spLocks xmlns:a="http://schemas.openxmlformats.org/drawingml/2006/main" noGrp="1"/>
          </p:cNvSpPr>
          <p:nvPr/>
        </p:nvSpPr>
        <p:spPr>
          <a:xfrm xmlns:a="http://schemas.openxmlformats.org/drawingml/2006/main">
            <a:off x="6248400" y="5772150"/>
            <a:ext cx="5334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350" b="0">
                <a:solidFill>
                  <a:srgbClr val="2B373B"/>
                </a:solidFill>
                <a:latin typeface="Segoe UI"/>
                <a:ea typeface="Segoe UI"/>
                <a:cs typeface="Segoe UI"/>
              </a:defRPr>
            </a:pPr>
            <a:r>
              <a:rPr sz="1350" b="0">
                <a:solidFill>
                  <a:srgbClr val="2B373B"/>
                </a:solidFill>
                <a:latin typeface="Segoe UI"/>
                <a:ea typeface="Segoe UI"/>
                <a:cs typeface="Segoe UI"/>
              </a:rPr>
              <a:t>52 verified inputs for four relay models</a:t>
            </a:r>
          </a:p>
        </p:txBody>
      </p:sp>
    </p:spTree>
    <p:extLst>
      <p:ext uri="{BB962C8B-B14F-4D97-AF65-F5344CB8AC3E}">
        <p14:creationId xmlns:p14="http://schemas.microsoft.com/office/powerpoint/2010/main" val="1113744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 title">
            <a:extLst xmlns:a="http://schemas.openxmlformats.org/drawingml/2006/main">
              <a:ext uri="{FF2B5EF4-FFF2-40B4-BE49-F238E27FC236}">
                <a16:creationId xmlns:a16="http://schemas.microsoft.com/office/drawing/2014/main" id="{0061225B-5636-453A-A4D1-38A812A39AD9}"/>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850" b="1">
                <a:solidFill>
                  <a:srgbClr val="1B1338"/>
                </a:solidFill>
                <a:latin typeface="Segoe UI Semibold"/>
                <a:ea typeface="Segoe UI Semibold"/>
                <a:cs typeface="Segoe UI Semibold"/>
              </a:defRPr>
            </a:pPr>
            <a:r>
              <a:rPr sz="2850" b="1">
                <a:solidFill>
                  <a:srgbClr val="1B1338"/>
                </a:solidFill>
                <a:latin typeface="Segoe UI Semibold"/>
                <a:ea typeface="Segoe UI Semibold"/>
                <a:cs typeface="Segoe UI Semibold"/>
              </a:rPr>
              <a:t>A bottle relay through the shared table</a:t>
            </a:r>
          </a:p>
        </p:txBody>
      </p:sp>
      <p:sp>
        <p:nvSpPr>
          <p:cNvPr id="2" name="">
            <a:extLst xmlns:a="http://schemas.openxmlformats.org/drawingml/2006/main">
              <a:ext uri="{FF2B5EF4-FFF2-40B4-BE49-F238E27FC236}">
                <a16:creationId xmlns:a16="http://schemas.microsoft.com/office/drawing/2014/main" id="{82147B16-4E6C-403E-ACB2-A8FE1DA8AFBB}"/>
              </a:ext>
            </a:extLst>
          </p:cNvPr>
          <p:cNvSpPr>
            <a:spLocks xmlns:a="http://schemas.openxmlformats.org/drawingml/2006/main" noGrp="1"/>
          </p:cNvSpPr>
          <p:nvPr/>
        </p:nvSpPr>
        <p:spPr>
          <a:xfrm xmlns:a="http://schemas.openxmlformats.org/drawingml/2006/main">
            <a:off x="609600" y="1200150"/>
            <a:ext cx="342900" cy="38100"/>
          </a:xfrm>
          <a:prstGeom xmlns:a="http://schemas.openxmlformats.org/drawingml/2006/main" prst="rect">
            <a:avLst/>
          </a:prstGeom>
          <a:solidFill xmlns:a="http://schemas.openxmlformats.org/drawingml/2006/main">
            <a:srgbClr val="29AB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1DACF3-84B8-4FB6-9DF5-49840D491B2C}"/>
              </a:ext>
            </a:extLst>
          </p:cNvPr>
          <p:cNvSpPr>
            <a:spLocks xmlns:a="http://schemas.openxmlformats.org/drawingml/2006/main" noGrp="1"/>
          </p:cNvSpPr>
          <p:nvPr/>
        </p:nvSpPr>
        <p:spPr>
          <a:xfrm xmlns:a="http://schemas.openxmlformats.org/drawingml/2006/main">
            <a:off x="609600" y="6467475"/>
            <a:ext cx="109728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A07D2A29-1D49-4DBF-8918-4AD24C16C52A}"/>
              </a:ext>
            </a:extLst>
          </p:cNvPr>
          <p:cNvSpPr>
            <a:spLocks xmlns:a="http://schemas.openxmlformats.org/drawingml/2006/main" noGrp="1"/>
          </p:cNvSpPr>
          <p:nvPr/>
        </p:nvSpPr>
        <p:spPr>
          <a:xfrm xmlns:a="http://schemas.openxmlformats.org/drawingml/2006/main">
            <a:off x="609600" y="65627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Talos</a:t>
            </a:r>
          </a:p>
        </p:txBody>
      </p:sp>
      <p:sp>
        <p:nvSpPr>
          <p:cNvPr id="5" name="Page">
            <a:extLst xmlns:a="http://schemas.openxmlformats.org/drawingml/2006/main">
              <a:ext uri="{FF2B5EF4-FFF2-40B4-BE49-F238E27FC236}">
                <a16:creationId xmlns:a16="http://schemas.microsoft.com/office/drawing/2014/main" id="{A764A27D-9570-448E-9ADD-3C52D688B738}"/>
              </a:ext>
            </a:extLst>
          </p:cNvPr>
          <p:cNvSpPr>
            <a:spLocks xmlns:a="http://schemas.openxmlformats.org/drawingml/2006/main" noGrp="1"/>
          </p:cNvSpPr>
          <p:nvPr/>
        </p:nvSpPr>
        <p:spPr>
          <a:xfrm xmlns:a="http://schemas.openxmlformats.org/drawingml/2006/main">
            <a:off x="11125200" y="6562725"/>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04</a:t>
            </a:r>
          </a:p>
        </p:txBody>
      </p:sp>
      <p:sp>
        <p:nvSpPr>
          <p:cNvPr id="6" name="Relay description">
            <a:extLst xmlns:a="http://schemas.openxmlformats.org/drawingml/2006/main">
              <a:ext uri="{FF2B5EF4-FFF2-40B4-BE49-F238E27FC236}">
                <a16:creationId xmlns:a16="http://schemas.microsoft.com/office/drawing/2014/main" id="{845B8AF1-379D-4D39-B066-3E861A1096CF}"/>
              </a:ext>
            </a:extLst>
          </p:cNvPr>
          <p:cNvSpPr>
            <a:spLocks xmlns:a="http://schemas.openxmlformats.org/drawingml/2006/main" noGrp="1"/>
          </p:cNvSpPr>
          <p:nvPr/>
        </p:nvSpPr>
        <p:spPr>
          <a:xfrm xmlns:a="http://schemas.openxmlformats.org/drawingml/2006/main">
            <a:off x="609600" y="14763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950" b="0">
                <a:solidFill>
                  <a:srgbClr val="2B373B"/>
                </a:solidFill>
                <a:latin typeface="Segoe UI"/>
                <a:ea typeface="Segoe UI"/>
                <a:cs typeface="Segoe UI"/>
              </a:defRPr>
            </a:pPr>
            <a:r>
              <a:rPr sz="1950" b="0">
                <a:solidFill>
                  <a:srgbClr val="2B373B"/>
                </a:solidFill>
                <a:latin typeface="Segoe UI"/>
                <a:ea typeface="Segoe UI"/>
                <a:cs typeface="Segoe UI"/>
              </a:rPr>
              <a:t>One arm releases the bottle before the other takes over.</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6feb71def0f487f"/>
          <a:srcRect xmlns:a="http://schemas.openxmlformats.org/drawingml/2006/main" l="0" t="15972" r="50000" b="17361"/>
          <a:stretch xmlns:a="http://schemas.openxmlformats.org/drawingml/2006/main"/>
        </p:blipFill>
        <p:spPr>
          <a:xfrm xmlns:a="http://schemas.openxmlformats.org/drawingml/2006/main">
            <a:off x="609600" y="2152650"/>
            <a:ext cx="3352800" cy="2514600"/>
          </a:xfrm>
          <a:prstGeom xmlns:a="http://schemas.openxmlformats.org/drawingml/2006/main" prst="rect">
            <a:avLst/>
          </a:prstGeom>
        </p:spPr>
      </p:pic>
      <p:sp>
        <p:nvSpPr>
          <p:cNvPr id="8" name="Relay phase 0">
            <a:extLst xmlns:a="http://schemas.openxmlformats.org/drawingml/2006/main">
              <a:ext uri="{FF2B5EF4-FFF2-40B4-BE49-F238E27FC236}">
                <a16:creationId xmlns:a16="http://schemas.microsoft.com/office/drawing/2014/main" id="{219BDEEB-EA1D-458F-A628-BE19339CB084}"/>
              </a:ext>
            </a:extLst>
          </p:cNvPr>
          <p:cNvSpPr>
            <a:spLocks xmlns:a="http://schemas.openxmlformats.org/drawingml/2006/main" noGrp="1"/>
          </p:cNvSpPr>
          <p:nvPr/>
        </p:nvSpPr>
        <p:spPr>
          <a:xfrm xmlns:a="http://schemas.openxmlformats.org/drawingml/2006/main">
            <a:off x="609600" y="48768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575" b="1">
                <a:solidFill>
                  <a:srgbClr val="1B1338"/>
                </a:solidFill>
                <a:latin typeface="Segoe UI Semibold"/>
                <a:ea typeface="Segoe UI Semibold"/>
                <a:cs typeface="Segoe UI Semibold"/>
              </a:defRPr>
            </a:pPr>
            <a:r>
              <a:rPr sz="1575" b="1">
                <a:solidFill>
                  <a:srgbClr val="1B1338"/>
                </a:solidFill>
                <a:latin typeface="Segoe UI Semibold"/>
                <a:ea typeface="Segoe UI Semibold"/>
                <a:cs typeface="Segoe UI Semibold"/>
              </a:rPr>
              <a:t>Blue arm lifts</a:t>
            </a:r>
          </a:p>
        </p:txBody>
      </p:sp>
      <p:sp>
        <p:nvSpPr>
          <p:cNvPr id="9" name="Relay time 0">
            <a:extLst xmlns:a="http://schemas.openxmlformats.org/drawingml/2006/main">
              <a:ext uri="{FF2B5EF4-FFF2-40B4-BE49-F238E27FC236}">
                <a16:creationId xmlns:a16="http://schemas.microsoft.com/office/drawing/2014/main" id="{6597998E-2B6B-4D46-B6DD-1C2A37B3D3F2}"/>
              </a:ext>
            </a:extLst>
          </p:cNvPr>
          <p:cNvSpPr>
            <a:spLocks xmlns:a="http://schemas.openxmlformats.org/drawingml/2006/main" noGrp="1"/>
          </p:cNvSpPr>
          <p:nvPr/>
        </p:nvSpPr>
        <p:spPr>
          <a:xfrm xmlns:a="http://schemas.openxmlformats.org/drawingml/2006/main">
            <a:off x="609600" y="5286375"/>
            <a:ext cx="335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200" b="0">
                <a:solidFill>
                  <a:srgbClr val="626262"/>
                </a:solidFill>
                <a:latin typeface="Segoe UI"/>
                <a:ea typeface="Segoe UI"/>
                <a:cs typeface="Segoe UI"/>
              </a:defRPr>
            </a:pPr>
            <a:r>
              <a:rPr sz="1200" b="0">
                <a:solidFill>
                  <a:srgbClr val="626262"/>
                </a:solidFill>
                <a:latin typeface="Segoe UI"/>
                <a:ea typeface="Segoe UI"/>
                <a:cs typeface="Segoe UI"/>
              </a:rPr>
              <a:t>12.0 simulated seconds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03cf084f2896456c"/>
          <a:srcRect xmlns:a="http://schemas.openxmlformats.org/drawingml/2006/main" l="0" t="15972" r="50000" b="17361"/>
          <a:stretch xmlns:a="http://schemas.openxmlformats.org/drawingml/2006/main"/>
        </p:blipFill>
        <p:spPr>
          <a:xfrm xmlns:a="http://schemas.openxmlformats.org/drawingml/2006/main">
            <a:off x="4419600" y="2152650"/>
            <a:ext cx="3352800" cy="2514600"/>
          </a:xfrm>
          <a:prstGeom xmlns:a="http://schemas.openxmlformats.org/drawingml/2006/main" prst="rect">
            <a:avLst/>
          </a:prstGeom>
        </p:spPr>
      </p:pic>
      <p:sp>
        <p:nvSpPr>
          <p:cNvPr id="11" name="Relay phase 1">
            <a:extLst xmlns:a="http://schemas.openxmlformats.org/drawingml/2006/main">
              <a:ext uri="{FF2B5EF4-FFF2-40B4-BE49-F238E27FC236}">
                <a16:creationId xmlns:a16="http://schemas.microsoft.com/office/drawing/2014/main" id="{2708526F-3116-4032-8F6F-0354DDC9A4FA}"/>
              </a:ext>
            </a:extLst>
          </p:cNvPr>
          <p:cNvSpPr>
            <a:spLocks xmlns:a="http://schemas.openxmlformats.org/drawingml/2006/main" noGrp="1"/>
          </p:cNvSpPr>
          <p:nvPr/>
        </p:nvSpPr>
        <p:spPr>
          <a:xfrm xmlns:a="http://schemas.openxmlformats.org/drawingml/2006/main">
            <a:off x="4419600" y="48768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575" b="1">
                <a:solidFill>
                  <a:srgbClr val="1B1338"/>
                </a:solidFill>
                <a:latin typeface="Segoe UI Semibold"/>
                <a:ea typeface="Segoe UI Semibold"/>
                <a:cs typeface="Segoe UI Semibold"/>
              </a:defRPr>
            </a:pPr>
            <a:r>
              <a:rPr sz="1575" b="1">
                <a:solidFill>
                  <a:srgbClr val="1B1338"/>
                </a:solidFill>
                <a:latin typeface="Segoe UI Semibold"/>
                <a:ea typeface="Segoe UI Semibold"/>
                <a:cs typeface="Segoe UI Semibold"/>
              </a:rPr>
              <a:t>Table release and parking</a:t>
            </a:r>
          </a:p>
        </p:txBody>
      </p:sp>
      <p:sp>
        <p:nvSpPr>
          <p:cNvPr id="12" name="Relay time 1">
            <a:extLst xmlns:a="http://schemas.openxmlformats.org/drawingml/2006/main">
              <a:ext uri="{FF2B5EF4-FFF2-40B4-BE49-F238E27FC236}">
                <a16:creationId xmlns:a16="http://schemas.microsoft.com/office/drawing/2014/main" id="{E1295ECE-B62B-4289-8335-ACB27A425E45}"/>
              </a:ext>
            </a:extLst>
          </p:cNvPr>
          <p:cNvSpPr>
            <a:spLocks xmlns:a="http://schemas.openxmlformats.org/drawingml/2006/main" noGrp="1"/>
          </p:cNvSpPr>
          <p:nvPr/>
        </p:nvSpPr>
        <p:spPr>
          <a:xfrm xmlns:a="http://schemas.openxmlformats.org/drawingml/2006/main">
            <a:off x="4419600" y="5286375"/>
            <a:ext cx="335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200" b="0">
                <a:solidFill>
                  <a:srgbClr val="626262"/>
                </a:solidFill>
                <a:latin typeface="Segoe UI"/>
                <a:ea typeface="Segoe UI"/>
                <a:cs typeface="Segoe UI"/>
              </a:defRPr>
            </a:pPr>
            <a:r>
              <a:rPr sz="1200" b="0">
                <a:solidFill>
                  <a:srgbClr val="626262"/>
                </a:solidFill>
                <a:latin typeface="Segoe UI"/>
                <a:ea typeface="Segoe UI"/>
                <a:cs typeface="Segoe UI"/>
              </a:rPr>
              <a:t>37.0 simulated seconds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73252c9f0ce4cad"/>
          <a:srcRect xmlns:a="http://schemas.openxmlformats.org/drawingml/2006/main" l="0" t="15972" r="50000" b="17361"/>
          <a:stretch xmlns:a="http://schemas.openxmlformats.org/drawingml/2006/main"/>
        </p:blipFill>
        <p:spPr>
          <a:xfrm xmlns:a="http://schemas.openxmlformats.org/drawingml/2006/main">
            <a:off x="8229600" y="2152650"/>
            <a:ext cx="3352800" cy="2514600"/>
          </a:xfrm>
          <a:prstGeom xmlns:a="http://schemas.openxmlformats.org/drawingml/2006/main" prst="rect">
            <a:avLst/>
          </a:prstGeom>
        </p:spPr>
      </p:pic>
      <p:sp>
        <p:nvSpPr>
          <p:cNvPr id="14" name="Relay phase 2">
            <a:extLst xmlns:a="http://schemas.openxmlformats.org/drawingml/2006/main">
              <a:ext uri="{FF2B5EF4-FFF2-40B4-BE49-F238E27FC236}">
                <a16:creationId xmlns:a16="http://schemas.microsoft.com/office/drawing/2014/main" id="{929605BF-A79B-4D6F-8970-74E3B0566D99}"/>
              </a:ext>
            </a:extLst>
          </p:cNvPr>
          <p:cNvSpPr>
            <a:spLocks xmlns:a="http://schemas.openxmlformats.org/drawingml/2006/main" noGrp="1"/>
          </p:cNvSpPr>
          <p:nvPr/>
        </p:nvSpPr>
        <p:spPr>
          <a:xfrm xmlns:a="http://schemas.openxmlformats.org/drawingml/2006/main">
            <a:off x="8229600" y="4876800"/>
            <a:ext cx="335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575" b="1">
                <a:solidFill>
                  <a:srgbClr val="1B1338"/>
                </a:solidFill>
                <a:latin typeface="Segoe UI Semibold"/>
                <a:ea typeface="Segoe UI Semibold"/>
                <a:cs typeface="Segoe UI Semibold"/>
              </a:defRPr>
            </a:pPr>
            <a:r>
              <a:rPr sz="1575" b="1">
                <a:solidFill>
                  <a:srgbClr val="1B1338"/>
                </a:solidFill>
                <a:latin typeface="Segoe UI Semibold"/>
                <a:ea typeface="Segoe UI Semibold"/>
                <a:cs typeface="Segoe UI Semibold"/>
              </a:rPr>
              <a:t>Amber arm carries</a:t>
            </a:r>
          </a:p>
        </p:txBody>
      </p:sp>
      <p:sp>
        <p:nvSpPr>
          <p:cNvPr id="15" name="Relay time 2">
            <a:extLst xmlns:a="http://schemas.openxmlformats.org/drawingml/2006/main">
              <a:ext uri="{FF2B5EF4-FFF2-40B4-BE49-F238E27FC236}">
                <a16:creationId xmlns:a16="http://schemas.microsoft.com/office/drawing/2014/main" id="{7A66EBDC-49EB-4DD3-BAF8-0A65C239B2BC}"/>
              </a:ext>
            </a:extLst>
          </p:cNvPr>
          <p:cNvSpPr>
            <a:spLocks xmlns:a="http://schemas.openxmlformats.org/drawingml/2006/main" noGrp="1"/>
          </p:cNvSpPr>
          <p:nvPr/>
        </p:nvSpPr>
        <p:spPr>
          <a:xfrm xmlns:a="http://schemas.openxmlformats.org/drawingml/2006/main">
            <a:off x="8229600" y="5286375"/>
            <a:ext cx="335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200" b="0">
                <a:solidFill>
                  <a:srgbClr val="626262"/>
                </a:solidFill>
                <a:latin typeface="Segoe UI"/>
                <a:ea typeface="Segoe UI"/>
                <a:cs typeface="Segoe UI"/>
              </a:defRPr>
            </a:pPr>
            <a:r>
              <a:rPr sz="1200" b="0">
                <a:solidFill>
                  <a:srgbClr val="626262"/>
                </a:solidFill>
                <a:latin typeface="Segoe UI"/>
                <a:ea typeface="Segoe UI"/>
                <a:cs typeface="Segoe UI"/>
              </a:rPr>
              <a:t>60.0 simulated seconds</a:t>
            </a:r>
          </a:p>
        </p:txBody>
      </p:sp>
      <p:sp>
        <p:nvSpPr>
          <p:cNvPr id="16" name="">
            <a:extLst xmlns:a="http://schemas.openxmlformats.org/drawingml/2006/main">
              <a:ext uri="{FF2B5EF4-FFF2-40B4-BE49-F238E27FC236}">
                <a16:creationId xmlns:a16="http://schemas.microsoft.com/office/drawing/2014/main" id="{54390F24-9307-412C-85D4-9122D75E8D0A}"/>
              </a:ext>
            </a:extLst>
          </p:cNvPr>
          <p:cNvSpPr>
            <a:spLocks xmlns:a="http://schemas.openxmlformats.org/drawingml/2006/main" noGrp="1"/>
          </p:cNvSpPr>
          <p:nvPr/>
        </p:nvSpPr>
        <p:spPr>
          <a:xfrm xmlns:a="http://schemas.openxmlformats.org/drawingml/2006/main">
            <a:off x="609600" y="5734050"/>
            <a:ext cx="109728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17" name="Relay final result">
            <a:extLst xmlns:a="http://schemas.openxmlformats.org/drawingml/2006/main">
              <a:ext uri="{FF2B5EF4-FFF2-40B4-BE49-F238E27FC236}">
                <a16:creationId xmlns:a16="http://schemas.microsoft.com/office/drawing/2014/main" id="{8799FA74-CAD9-4259-BBFD-A6D48365B6FB}"/>
              </a:ext>
            </a:extLst>
          </p:cNvPr>
          <p:cNvSpPr>
            <a:spLocks xmlns:a="http://schemas.openxmlformats.org/drawingml/2006/main" noGrp="1"/>
          </p:cNvSpPr>
          <p:nvPr/>
        </p:nvSpPr>
        <p:spPr>
          <a:xfrm xmlns:a="http://schemas.openxmlformats.org/drawingml/2006/main">
            <a:off x="609600" y="5915025"/>
            <a:ext cx="723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800" b="1">
                <a:solidFill>
                  <a:srgbClr val="1B1338"/>
                </a:solidFill>
                <a:latin typeface="Segoe UI Semibold"/>
                <a:ea typeface="Segoe UI Semibold"/>
                <a:cs typeface="Segoe UI Semibold"/>
              </a:defRPr>
            </a:pPr>
            <a:r>
              <a:rPr sz="1800" b="1">
                <a:solidFill>
                  <a:srgbClr val="1B1338"/>
                </a:solidFill>
                <a:latin typeface="Segoe UI Semibold"/>
                <a:ea typeface="Segoe UI Semibold"/>
                <a:cs typeface="Segoe UI Semibold"/>
              </a:rPr>
              <a:t>5 / 5 left to right       5 / 5 right to left</a:t>
            </a:r>
          </a:p>
        </p:txBody>
      </p:sp>
      <p:sp>
        <p:nvSpPr>
          <p:cNvPr id="18" name="Relay scope">
            <a:extLst xmlns:a="http://schemas.openxmlformats.org/drawingml/2006/main">
              <a:ext uri="{FF2B5EF4-FFF2-40B4-BE49-F238E27FC236}">
                <a16:creationId xmlns:a16="http://schemas.microsoft.com/office/drawing/2014/main" id="{2891DAA6-CBC4-4DA4-9BDE-E5215420174D}"/>
              </a:ext>
            </a:extLst>
          </p:cNvPr>
          <p:cNvSpPr>
            <a:spLocks xmlns:a="http://schemas.openxmlformats.org/drawingml/2006/main" noGrp="1"/>
          </p:cNvSpPr>
          <p:nvPr/>
        </p:nvSpPr>
        <p:spPr>
          <a:xfrm xmlns:a="http://schemas.openxmlformats.org/drawingml/2006/main">
            <a:off x="8220075" y="5829300"/>
            <a:ext cx="33623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275" b="0">
                <a:solidFill>
                  <a:srgbClr val="626262"/>
                </a:solidFill>
                <a:latin typeface="Segoe UI"/>
                <a:ea typeface="Segoe UI"/>
                <a:cs typeface="Segoe UI"/>
              </a:defRPr>
            </a:pPr>
            <a:r>
              <a:rPr sz="1275" b="0">
                <a:solidFill>
                  <a:srgbClr val="626262"/>
                </a:solidFill>
                <a:latin typeface="Segoe UI"/>
                <a:ea typeface="Segoe UI"/>
                <a:cs typeface="Segoe UI"/>
              </a:rPr>
              <a:t>Upright start regions, fixed goals.</a:t>
            </a:r>
          </a:p>
          <a:p xmlns:a="http://schemas.openxmlformats.org/drawingml/2006/main">
            <a:pPr>
              <a:lnSpc>
                <a:spcPct val="120000"/>
              </a:lnSpc>
              <a:buNone/>
              <a:defRPr sz="1275" b="0">
                <a:solidFill>
                  <a:srgbClr val="626262"/>
                </a:solidFill>
                <a:latin typeface="Segoe UI"/>
                <a:ea typeface="Segoe UI"/>
                <a:cs typeface="Segoe UI"/>
              </a:defRPr>
            </a:pPr>
            <a:r>
              <a:rPr sz="1275" b="0">
                <a:solidFill>
                  <a:srgbClr val="626262"/>
                </a:solidFill>
                <a:latin typeface="Segoe UI"/>
                <a:ea typeface="Segoe UI"/>
                <a:cs typeface="Segoe UI"/>
              </a:rPr>
              <a:t>Transfer uses table contact.</a:t>
            </a:r>
          </a:p>
        </p:txBody>
      </p:sp>
    </p:spTree>
    <p:extLst>
      <p:ext uri="{BB962C8B-B14F-4D97-AF65-F5344CB8AC3E}">
        <p14:creationId xmlns:p14="http://schemas.microsoft.com/office/powerpoint/2010/main" val="9850585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9CC311E6-768C-425A-A0D3-54B2E835B1EA}"/>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850" b="1">
                <a:solidFill>
                  <a:srgbClr val="1B1338"/>
                </a:solidFill>
                <a:latin typeface="Segoe UI Semibold"/>
                <a:ea typeface="Segoe UI Semibold"/>
                <a:cs typeface="Segoe UI Semibold"/>
              </a:defRPr>
            </a:pPr>
            <a:r>
              <a:rPr sz="2850" b="1">
                <a:solidFill>
                  <a:srgbClr val="1B1338"/>
                </a:solidFill>
                <a:latin typeface="Segoe UI Semibold"/>
                <a:ea typeface="Segoe UI Semibold"/>
                <a:cs typeface="Segoe UI Semibold"/>
              </a:rPr>
              <a:t>Frozen trials retain both successes and failures</a:t>
            </a:r>
          </a:p>
        </p:txBody>
      </p:sp>
      <p:sp>
        <p:nvSpPr>
          <p:cNvPr id="2" name="">
            <a:extLst xmlns:a="http://schemas.openxmlformats.org/drawingml/2006/main">
              <a:ext uri="{FF2B5EF4-FFF2-40B4-BE49-F238E27FC236}">
                <a16:creationId xmlns:a16="http://schemas.microsoft.com/office/drawing/2014/main" id="{7659E3CD-481A-4FF5-BC9D-3D967E62F17D}"/>
              </a:ext>
            </a:extLst>
          </p:cNvPr>
          <p:cNvSpPr>
            <a:spLocks xmlns:a="http://schemas.openxmlformats.org/drawingml/2006/main" noGrp="1"/>
          </p:cNvSpPr>
          <p:nvPr/>
        </p:nvSpPr>
        <p:spPr>
          <a:xfrm xmlns:a="http://schemas.openxmlformats.org/drawingml/2006/main">
            <a:off x="609600" y="1200150"/>
            <a:ext cx="342900" cy="38100"/>
          </a:xfrm>
          <a:prstGeom xmlns:a="http://schemas.openxmlformats.org/drawingml/2006/main" prst="rect">
            <a:avLst/>
          </a:prstGeom>
          <a:solidFill xmlns:a="http://schemas.openxmlformats.org/drawingml/2006/main">
            <a:srgbClr val="29AB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02CB6B3-2548-49E0-A285-8CB292380983}"/>
              </a:ext>
            </a:extLst>
          </p:cNvPr>
          <p:cNvSpPr>
            <a:spLocks xmlns:a="http://schemas.openxmlformats.org/drawingml/2006/main" noGrp="1"/>
          </p:cNvSpPr>
          <p:nvPr/>
        </p:nvSpPr>
        <p:spPr>
          <a:xfrm xmlns:a="http://schemas.openxmlformats.org/drawingml/2006/main">
            <a:off x="609600" y="6467475"/>
            <a:ext cx="109728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2563DC37-8375-4FBF-BEB3-744C1BA3B3AD}"/>
              </a:ext>
            </a:extLst>
          </p:cNvPr>
          <p:cNvSpPr>
            <a:spLocks xmlns:a="http://schemas.openxmlformats.org/drawingml/2006/main" noGrp="1"/>
          </p:cNvSpPr>
          <p:nvPr/>
        </p:nvSpPr>
        <p:spPr>
          <a:xfrm xmlns:a="http://schemas.openxmlformats.org/drawingml/2006/main">
            <a:off x="609600" y="65627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Talos</a:t>
            </a:r>
          </a:p>
        </p:txBody>
      </p:sp>
      <p:sp>
        <p:nvSpPr>
          <p:cNvPr id="5" name="Page">
            <a:extLst xmlns:a="http://schemas.openxmlformats.org/drawingml/2006/main">
              <a:ext uri="{FF2B5EF4-FFF2-40B4-BE49-F238E27FC236}">
                <a16:creationId xmlns:a16="http://schemas.microsoft.com/office/drawing/2014/main" id="{06CB9899-61C1-4FE3-8233-691C9832BFBD}"/>
              </a:ext>
            </a:extLst>
          </p:cNvPr>
          <p:cNvSpPr>
            <a:spLocks xmlns:a="http://schemas.openxmlformats.org/drawingml/2006/main" noGrp="1"/>
          </p:cNvSpPr>
          <p:nvPr/>
        </p:nvSpPr>
        <p:spPr>
          <a:xfrm xmlns:a="http://schemas.openxmlformats.org/drawingml/2006/main">
            <a:off x="11125200" y="6562725"/>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05</a:t>
            </a:r>
          </a:p>
        </p:txBody>
      </p:sp>
      <p:sp>
        <p:nvSpPr>
          <p:cNvPr id="6" name="Evaluation scope">
            <a:extLst xmlns:a="http://schemas.openxmlformats.org/drawingml/2006/main">
              <a:ext uri="{FF2B5EF4-FFF2-40B4-BE49-F238E27FC236}">
                <a16:creationId xmlns:a16="http://schemas.microsoft.com/office/drawing/2014/main" id="{65B5DBBC-7E31-4BC4-9E17-33715F70A3BE}"/>
              </a:ext>
            </a:extLst>
          </p:cNvPr>
          <p:cNvSpPr>
            <a:spLocks xmlns:a="http://schemas.openxmlformats.org/drawingml/2006/main" noGrp="1"/>
          </p:cNvSpPr>
          <p:nvPr/>
        </p:nvSpPr>
        <p:spPr>
          <a:xfrm xmlns:a="http://schemas.openxmlformats.org/drawingml/2006/main">
            <a:off x="609600" y="14954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875" b="0">
                <a:solidFill>
                  <a:srgbClr val="2B373B"/>
                </a:solidFill>
                <a:latin typeface="Segoe UI"/>
                <a:ea typeface="Segoe UI"/>
                <a:cs typeface="Segoe UI"/>
              </a:defRPr>
            </a:pPr>
            <a:r>
              <a:rPr sz="1875" b="0">
                <a:solidFill>
                  <a:srgbClr val="2B373B"/>
                </a:solidFill>
                <a:latin typeface="Segoe UI"/>
                <a:ea typeface="Segoe UI"/>
                <a:cs typeface="Segoe UI"/>
              </a:rPr>
              <a:t>Limited starting presets and fixed destinations define these results.</a:t>
            </a:r>
          </a:p>
        </p:txBody>
      </p:sp>
      <p:graphicFrame>
        <p:nvGraphicFramePr>
          <p:cNvPr id="21" name="Chart"/>
          <p:cNvGraphicFramePr/>
          <p:nvPr/>
        </p:nvGraphicFramePr>
        <p:xfrm>
          <a:off xmlns:a="http://schemas.openxmlformats.org/drawingml/2006/main" x="466725" y="2209800"/>
          <a:ext xmlns:a="http://schemas.openxmlformats.org/drawingml/2006/main" cx="7600950" cy="3429000"/>
        </p:xfrm>
        <a:graphic xmlns:a="http://schemas.openxmlformats.org/drawingml/2006/main">
          <a:graphicData uri="http://schemas.openxmlformats.org/drawingml/2006/chart">
            <c:chart xmlns:r="http://schemas.openxmlformats.org/officeDocument/2006/relationships" xmlns:c="http://schemas.openxmlformats.org/drawingml/2006/chart" r:id="R416c9c0aa68e40c4"/>
          </a:graphicData>
        </a:graphic>
      </p:graphicFrame>
      <p:sp>
        <p:nvSpPr>
          <p:cNvPr id="8" name="Failure heading">
            <a:extLst xmlns:a="http://schemas.openxmlformats.org/drawingml/2006/main">
              <a:ext uri="{FF2B5EF4-FFF2-40B4-BE49-F238E27FC236}">
                <a16:creationId xmlns:a16="http://schemas.microsoft.com/office/drawing/2014/main" id="{02DEE082-4089-40EF-A563-709C4897A22C}"/>
              </a:ext>
            </a:extLst>
          </p:cNvPr>
          <p:cNvSpPr>
            <a:spLocks xmlns:a="http://schemas.openxmlformats.org/drawingml/2006/main" noGrp="1"/>
          </p:cNvSpPr>
          <p:nvPr/>
        </p:nvSpPr>
        <p:spPr>
          <a:xfrm xmlns:a="http://schemas.openxmlformats.org/drawingml/2006/main">
            <a:off x="8648700" y="2286000"/>
            <a:ext cx="29337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800" b="1">
                <a:solidFill>
                  <a:srgbClr val="1B1338"/>
                </a:solidFill>
                <a:latin typeface="Segoe UI Semibold"/>
                <a:ea typeface="Segoe UI Semibold"/>
                <a:cs typeface="Segoe UI Semibold"/>
              </a:defRPr>
            </a:pPr>
            <a:r>
              <a:rPr sz="1800" b="1">
                <a:solidFill>
                  <a:srgbClr val="1B1338"/>
                </a:solidFill>
                <a:latin typeface="Segoe UI Semibold"/>
                <a:ea typeface="Segoe UI Semibold"/>
                <a:cs typeface="Segoe UI Semibold"/>
              </a:rPr>
              <a:t>Two original dinner failures</a:t>
            </a:r>
          </a:p>
        </p:txBody>
      </p:sp>
      <p:sp>
        <p:nvSpPr>
          <p:cNvPr id="9" name="Mug error">
            <a:extLst xmlns:a="http://schemas.openxmlformats.org/drawingml/2006/main">
              <a:ext uri="{FF2B5EF4-FFF2-40B4-BE49-F238E27FC236}">
                <a16:creationId xmlns:a16="http://schemas.microsoft.com/office/drawing/2014/main" id="{E910B4EE-08D0-4606-ABDB-3BD2B9CA569C}"/>
              </a:ext>
            </a:extLst>
          </p:cNvPr>
          <p:cNvSpPr>
            <a:spLocks xmlns:a="http://schemas.openxmlformats.org/drawingml/2006/main" noGrp="1"/>
          </p:cNvSpPr>
          <p:nvPr/>
        </p:nvSpPr>
        <p:spPr>
          <a:xfrm xmlns:a="http://schemas.openxmlformats.org/drawingml/2006/main">
            <a:off x="8648700" y="3276600"/>
            <a:ext cx="2933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3225" b="1">
                <a:solidFill>
                  <a:srgbClr val="1B1338"/>
                </a:solidFill>
                <a:latin typeface="Segoe UI Semibold"/>
                <a:ea typeface="Segoe UI Semibold"/>
                <a:cs typeface="Segoe UI Semibold"/>
              </a:defRPr>
            </a:pPr>
            <a:r>
              <a:rPr sz="3225" b="1">
                <a:solidFill>
                  <a:srgbClr val="1B1338"/>
                </a:solidFill>
                <a:latin typeface="Segoe UI Semibold"/>
                <a:ea typeface="Segoe UI Semibold"/>
                <a:cs typeface="Segoe UI Semibold"/>
              </a:rPr>
              <a:t>14.59 mm</a:t>
            </a:r>
          </a:p>
        </p:txBody>
      </p:sp>
      <p:sp>
        <p:nvSpPr>
          <p:cNvPr id="10" name="Mug failure">
            <a:extLst xmlns:a="http://schemas.openxmlformats.org/drawingml/2006/main">
              <a:ext uri="{FF2B5EF4-FFF2-40B4-BE49-F238E27FC236}">
                <a16:creationId xmlns:a16="http://schemas.microsoft.com/office/drawing/2014/main" id="{DB987790-4DB5-4834-9E9E-46A2CA6F6222}"/>
              </a:ext>
            </a:extLst>
          </p:cNvPr>
          <p:cNvSpPr>
            <a:spLocks xmlns:a="http://schemas.openxmlformats.org/drawingml/2006/main" noGrp="1"/>
          </p:cNvSpPr>
          <p:nvPr/>
        </p:nvSpPr>
        <p:spPr>
          <a:xfrm xmlns:a="http://schemas.openxmlformats.org/drawingml/2006/main">
            <a:off x="8648700" y="3933825"/>
            <a:ext cx="2933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350" b="0">
                <a:solidFill>
                  <a:srgbClr val="626262"/>
                </a:solidFill>
                <a:latin typeface="Segoe UI"/>
                <a:ea typeface="Segoe UI"/>
                <a:cs typeface="Segoe UI"/>
              </a:defRPr>
            </a:pPr>
            <a:r>
              <a:rPr sz="1350" b="0">
                <a:solidFill>
                  <a:srgbClr val="626262"/>
                </a:solidFill>
                <a:latin typeface="Segoe UI"/>
                <a:ea typeface="Segoe UI"/>
                <a:cs typeface="Segoe UI"/>
              </a:rPr>
              <a:t>Mug placement XY error</a:t>
            </a:r>
          </a:p>
        </p:txBody>
      </p:sp>
      <p:sp>
        <p:nvSpPr>
          <p:cNvPr id="11" name="Spoon error">
            <a:extLst xmlns:a="http://schemas.openxmlformats.org/drawingml/2006/main">
              <a:ext uri="{FF2B5EF4-FFF2-40B4-BE49-F238E27FC236}">
                <a16:creationId xmlns:a16="http://schemas.microsoft.com/office/drawing/2014/main" id="{3D21C0DF-EE69-47ED-A113-8F2AC370D254}"/>
              </a:ext>
            </a:extLst>
          </p:cNvPr>
          <p:cNvSpPr>
            <a:spLocks xmlns:a="http://schemas.openxmlformats.org/drawingml/2006/main" noGrp="1"/>
          </p:cNvSpPr>
          <p:nvPr/>
        </p:nvSpPr>
        <p:spPr>
          <a:xfrm xmlns:a="http://schemas.openxmlformats.org/drawingml/2006/main">
            <a:off x="8648700" y="4533900"/>
            <a:ext cx="2933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3225" b="1">
                <a:solidFill>
                  <a:srgbClr val="1B1338"/>
                </a:solidFill>
                <a:latin typeface="Segoe UI Semibold"/>
                <a:ea typeface="Segoe UI Semibold"/>
                <a:cs typeface="Segoe UI Semibold"/>
              </a:defRPr>
            </a:pPr>
            <a:r>
              <a:rPr sz="3225" b="1">
                <a:solidFill>
                  <a:srgbClr val="1B1338"/>
                </a:solidFill>
                <a:latin typeface="Segoe UI Semibold"/>
                <a:ea typeface="Segoe UI Semibold"/>
                <a:cs typeface="Segoe UI Semibold"/>
              </a:rPr>
              <a:t>13.61 mm</a:t>
            </a:r>
          </a:p>
        </p:txBody>
      </p:sp>
      <p:sp>
        <p:nvSpPr>
          <p:cNvPr id="12" name="Spoon failure">
            <a:extLst xmlns:a="http://schemas.openxmlformats.org/drawingml/2006/main">
              <a:ext uri="{FF2B5EF4-FFF2-40B4-BE49-F238E27FC236}">
                <a16:creationId xmlns:a16="http://schemas.microsoft.com/office/drawing/2014/main" id="{1B2B88FE-AC0B-4C0E-A417-A175893E88C0}"/>
              </a:ext>
            </a:extLst>
          </p:cNvPr>
          <p:cNvSpPr>
            <a:spLocks xmlns:a="http://schemas.openxmlformats.org/drawingml/2006/main" noGrp="1"/>
          </p:cNvSpPr>
          <p:nvPr/>
        </p:nvSpPr>
        <p:spPr>
          <a:xfrm xmlns:a="http://schemas.openxmlformats.org/drawingml/2006/main">
            <a:off x="8648700" y="5191125"/>
            <a:ext cx="29337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350" b="0">
                <a:solidFill>
                  <a:srgbClr val="626262"/>
                </a:solidFill>
                <a:latin typeface="Segoe UI"/>
                <a:ea typeface="Segoe UI"/>
                <a:cs typeface="Segoe UI"/>
              </a:defRPr>
            </a:pPr>
            <a:r>
              <a:rPr sz="1350" b="0">
                <a:solidFill>
                  <a:srgbClr val="626262"/>
                </a:solidFill>
                <a:latin typeface="Segoe UI"/>
                <a:ea typeface="Segoe UI"/>
                <a:cs typeface="Segoe UI"/>
              </a:rPr>
              <a:t>Spoon placement XY error</a:t>
            </a:r>
          </a:p>
        </p:txBody>
      </p:sp>
      <p:sp>
        <p:nvSpPr>
          <p:cNvPr id="13" name="">
            <a:extLst xmlns:a="http://schemas.openxmlformats.org/drawingml/2006/main">
              <a:ext uri="{FF2B5EF4-FFF2-40B4-BE49-F238E27FC236}">
                <a16:creationId xmlns:a16="http://schemas.microsoft.com/office/drawing/2014/main" id="{04F64533-32F3-482A-B795-00D73750D970}"/>
              </a:ext>
            </a:extLst>
          </p:cNvPr>
          <p:cNvSpPr>
            <a:spLocks xmlns:a="http://schemas.openxmlformats.org/drawingml/2006/main" noGrp="1"/>
          </p:cNvSpPr>
          <p:nvPr/>
        </p:nvSpPr>
        <p:spPr>
          <a:xfrm xmlns:a="http://schemas.openxmlformats.org/drawingml/2006/main">
            <a:off x="609600" y="5829300"/>
            <a:ext cx="109728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14" name="Failure threshold">
            <a:extLst xmlns:a="http://schemas.openxmlformats.org/drawingml/2006/main">
              <a:ext uri="{FF2B5EF4-FFF2-40B4-BE49-F238E27FC236}">
                <a16:creationId xmlns:a16="http://schemas.microsoft.com/office/drawing/2014/main" id="{ED148847-41B2-4655-A54C-A1A29BD5E818}"/>
              </a:ext>
            </a:extLst>
          </p:cNvPr>
          <p:cNvSpPr>
            <a:spLocks xmlns:a="http://schemas.openxmlformats.org/drawingml/2006/main" noGrp="1"/>
          </p:cNvSpPr>
          <p:nvPr/>
        </p:nvSpPr>
        <p:spPr>
          <a:xfrm xmlns:a="http://schemas.openxmlformats.org/drawingml/2006/main">
            <a:off x="609600" y="60102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350" b="0">
                <a:solidFill>
                  <a:srgbClr val="626262"/>
                </a:solidFill>
                <a:latin typeface="Segoe UI"/>
                <a:ea typeface="Segoe UI"/>
                <a:cs typeface="Segoe UI"/>
              </a:defRPr>
            </a:pPr>
            <a:r>
              <a:rPr sz="1350" b="0">
                <a:solidFill>
                  <a:srgbClr val="626262"/>
                </a:solidFill>
                <a:latin typeface="Segoe UI"/>
                <a:ea typeface="Segoe UI"/>
                <a:cs typeface="Segoe UI"/>
              </a:rPr>
              <a:t>The dinner placement threshold stays at 8 mm. Each chart row has its own frozen protocol.</a:t>
            </a:r>
          </a:p>
        </p:txBody>
      </p:sp>
    </p:spTree>
    <p:extLst>
      <p:ext uri="{BB962C8B-B14F-4D97-AF65-F5344CB8AC3E}">
        <p14:creationId xmlns:p14="http://schemas.microsoft.com/office/powerpoint/2010/main" val="11321853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 title">
            <a:extLst xmlns:a="http://schemas.openxmlformats.org/drawingml/2006/main">
              <a:ext uri="{FF2B5EF4-FFF2-40B4-BE49-F238E27FC236}">
                <a16:creationId xmlns:a16="http://schemas.microsoft.com/office/drawing/2014/main" id="{5E8E188B-252C-4DFB-8DD0-6F2402CC8278}"/>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850" b="1">
                <a:solidFill>
                  <a:srgbClr val="1B1338"/>
                </a:solidFill>
                <a:latin typeface="Segoe UI Semibold"/>
                <a:ea typeface="Segoe UI Semibold"/>
                <a:cs typeface="Segoe UI Semibold"/>
              </a:defRPr>
            </a:pPr>
            <a:r>
              <a:rPr sz="2850" b="1">
                <a:solidFill>
                  <a:srgbClr val="1B1338"/>
                </a:solidFill>
                <a:latin typeface="Segoe UI Semibold"/>
                <a:ea typeface="Segoe UI Semibold"/>
                <a:cs typeface="Segoe UI Semibold"/>
              </a:rPr>
              <a:t>Visual correction during late mug placement</a:t>
            </a:r>
          </a:p>
        </p:txBody>
      </p:sp>
      <p:sp>
        <p:nvSpPr>
          <p:cNvPr id="2" name="">
            <a:extLst xmlns:a="http://schemas.openxmlformats.org/drawingml/2006/main">
              <a:ext uri="{FF2B5EF4-FFF2-40B4-BE49-F238E27FC236}">
                <a16:creationId xmlns:a16="http://schemas.microsoft.com/office/drawing/2014/main" id="{75B5C4C4-5DA5-4CEC-A91B-077FBDF93609}"/>
              </a:ext>
            </a:extLst>
          </p:cNvPr>
          <p:cNvSpPr>
            <a:spLocks xmlns:a="http://schemas.openxmlformats.org/drawingml/2006/main" noGrp="1"/>
          </p:cNvSpPr>
          <p:nvPr/>
        </p:nvSpPr>
        <p:spPr>
          <a:xfrm xmlns:a="http://schemas.openxmlformats.org/drawingml/2006/main">
            <a:off x="609600" y="1200150"/>
            <a:ext cx="342900" cy="38100"/>
          </a:xfrm>
          <a:prstGeom xmlns:a="http://schemas.openxmlformats.org/drawingml/2006/main" prst="rect">
            <a:avLst/>
          </a:prstGeom>
          <a:solidFill xmlns:a="http://schemas.openxmlformats.org/drawingml/2006/main">
            <a:srgbClr val="29AB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0A1E474-9979-4E16-8B8D-4AC4DB37EF40}"/>
              </a:ext>
            </a:extLst>
          </p:cNvPr>
          <p:cNvSpPr>
            <a:spLocks xmlns:a="http://schemas.openxmlformats.org/drawingml/2006/main" noGrp="1"/>
          </p:cNvSpPr>
          <p:nvPr/>
        </p:nvSpPr>
        <p:spPr>
          <a:xfrm xmlns:a="http://schemas.openxmlformats.org/drawingml/2006/main">
            <a:off x="609600" y="6467475"/>
            <a:ext cx="109728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E183956E-217B-4DD6-A8F6-FCC8F380236C}"/>
              </a:ext>
            </a:extLst>
          </p:cNvPr>
          <p:cNvSpPr>
            <a:spLocks xmlns:a="http://schemas.openxmlformats.org/drawingml/2006/main" noGrp="1"/>
          </p:cNvSpPr>
          <p:nvPr/>
        </p:nvSpPr>
        <p:spPr>
          <a:xfrm xmlns:a="http://schemas.openxmlformats.org/drawingml/2006/main">
            <a:off x="609600" y="65627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Talos</a:t>
            </a:r>
          </a:p>
        </p:txBody>
      </p:sp>
      <p:sp>
        <p:nvSpPr>
          <p:cNvPr id="5" name="Page">
            <a:extLst xmlns:a="http://schemas.openxmlformats.org/drawingml/2006/main">
              <a:ext uri="{FF2B5EF4-FFF2-40B4-BE49-F238E27FC236}">
                <a16:creationId xmlns:a16="http://schemas.microsoft.com/office/drawing/2014/main" id="{53854035-3926-4E8B-9041-AAC4BC04A2D3}"/>
              </a:ext>
            </a:extLst>
          </p:cNvPr>
          <p:cNvSpPr>
            <a:spLocks xmlns:a="http://schemas.openxmlformats.org/drawingml/2006/main" noGrp="1"/>
          </p:cNvSpPr>
          <p:nvPr/>
        </p:nvSpPr>
        <p:spPr>
          <a:xfrm xmlns:a="http://schemas.openxmlformats.org/drawingml/2006/main">
            <a:off x="11125200" y="6562725"/>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06</a:t>
            </a:r>
          </a:p>
        </p:txBody>
      </p:sp>
      <p:sp>
        <p:nvSpPr>
          <p:cNvPr id="6" name="Image experiment">
            <a:extLst xmlns:a="http://schemas.openxmlformats.org/drawingml/2006/main">
              <a:ext uri="{FF2B5EF4-FFF2-40B4-BE49-F238E27FC236}">
                <a16:creationId xmlns:a16="http://schemas.microsoft.com/office/drawing/2014/main" id="{79B02D4D-DAEA-4A28-AC2C-717F4F36B13E}"/>
              </a:ext>
            </a:extLst>
          </p:cNvPr>
          <p:cNvSpPr>
            <a:spLocks xmlns:a="http://schemas.openxmlformats.org/drawingml/2006/main" noGrp="1"/>
          </p:cNvSpPr>
          <p:nvPr/>
        </p:nvSpPr>
        <p:spPr>
          <a:xfrm xmlns:a="http://schemas.openxmlformats.org/drawingml/2006/main">
            <a:off x="609600" y="14954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875" b="0">
                <a:solidFill>
                  <a:srgbClr val="2B373B"/>
                </a:solidFill>
                <a:latin typeface="Segoe UI"/>
                <a:ea typeface="Segoe UI"/>
                <a:cs typeface="Segoe UI"/>
              </a:defRPr>
            </a:pPr>
            <a:r>
              <a:rPr sz="1875" b="0">
                <a:solidFill>
                  <a:srgbClr val="2B373B"/>
                </a:solidFill>
                <a:latin typeface="Segoe UI"/>
                <a:ea typeface="Segoe UI"/>
                <a:cs typeface="Segoe UI"/>
              </a:rPr>
              <a:t>The same correction model receives live or frozen images.</a:t>
            </a:r>
          </a:p>
        </p:txBody>
      </p:sp>
      <p:graphicFrame>
        <p:nvGraphicFramePr>
          <p:cNvPr id="19" name="Chart"/>
          <p:cNvGraphicFramePr/>
          <p:nvPr/>
        </p:nvGraphicFramePr>
        <p:xfrm>
          <a:off xmlns:a="http://schemas.openxmlformats.org/drawingml/2006/main" x="457200" y="2209800"/>
          <a:ext xmlns:a="http://schemas.openxmlformats.org/drawingml/2006/main" cx="7096125" cy="3543300"/>
        </p:xfrm>
        <a:graphic xmlns:a="http://schemas.openxmlformats.org/drawingml/2006/main">
          <a:graphicData uri="http://schemas.openxmlformats.org/drawingml/2006/chart">
            <c:chart xmlns:r="http://schemas.openxmlformats.org/officeDocument/2006/relationships" xmlns:c="http://schemas.openxmlformats.org/drawingml/2006/chart" r:id="R76cf0a5ecb154d64"/>
          </a:graphicData>
        </a:graphic>
      </p:graphicFrame>
      <p:sp>
        <p:nvSpPr>
          <p:cNvPr id="8" name="Comparison interpretation">
            <a:extLst xmlns:a="http://schemas.openxmlformats.org/drawingml/2006/main">
              <a:ext uri="{FF2B5EF4-FFF2-40B4-BE49-F238E27FC236}">
                <a16:creationId xmlns:a16="http://schemas.microsoft.com/office/drawing/2014/main" id="{A5FECBEC-92BE-4CF3-A6D7-33565AE169E2}"/>
              </a:ext>
            </a:extLst>
          </p:cNvPr>
          <p:cNvSpPr>
            <a:spLocks xmlns:a="http://schemas.openxmlformats.org/drawingml/2006/main" noGrp="1"/>
          </p:cNvSpPr>
          <p:nvPr/>
        </p:nvSpPr>
        <p:spPr>
          <a:xfrm xmlns:a="http://schemas.openxmlformats.org/drawingml/2006/main">
            <a:off x="8105775" y="2352675"/>
            <a:ext cx="347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025" b="1">
                <a:solidFill>
                  <a:srgbClr val="1B1338"/>
                </a:solidFill>
                <a:latin typeface="Segoe UI Semibold"/>
                <a:ea typeface="Segoe UI Semibold"/>
                <a:cs typeface="Segoe UI Semibold"/>
              </a:defRPr>
            </a:pPr>
            <a:r>
              <a:rPr sz="2025" b="1">
                <a:solidFill>
                  <a:srgbClr val="1B1338"/>
                </a:solidFill>
                <a:latin typeface="Segoe UI Semibold"/>
                <a:ea typeface="Segoe UI Semibold"/>
                <a:cs typeface="Segoe UI Semibold"/>
              </a:rPr>
              <a:t>Updated images matter</a:t>
            </a:r>
          </a:p>
          <a:p xmlns:a="http://schemas.openxmlformats.org/drawingml/2006/main">
            <a:pPr>
              <a:lnSpc>
                <a:spcPct val="120000"/>
              </a:lnSpc>
              <a:buNone/>
              <a:defRPr sz="2025" b="1">
                <a:solidFill>
                  <a:srgbClr val="1B1338"/>
                </a:solidFill>
                <a:latin typeface="Segoe UI Semibold"/>
                <a:ea typeface="Segoe UI Semibold"/>
                <a:cs typeface="Segoe UI Semibold"/>
              </a:defRPr>
            </a:pPr>
            <a:r>
              <a:rPr sz="2025" b="1">
                <a:solidFill>
                  <a:srgbClr val="1B1338"/>
                </a:solidFill>
                <a:latin typeface="Segoe UI Semibold"/>
                <a:ea typeface="Segoe UI Semibold"/>
                <a:cs typeface="Segoe UI Semibold"/>
              </a:rPr>
              <a:t>for the correction model</a:t>
            </a:r>
          </a:p>
        </p:txBody>
      </p:sp>
      <p:sp>
        <p:nvSpPr>
          <p:cNvPr id="9" name="Comparison qualification">
            <a:extLst xmlns:a="http://schemas.openxmlformats.org/drawingml/2006/main">
              <a:ext uri="{FF2B5EF4-FFF2-40B4-BE49-F238E27FC236}">
                <a16:creationId xmlns:a16="http://schemas.microsoft.com/office/drawing/2014/main" id="{669F3765-EBEA-4F38-9DB6-7E1E34EC0728}"/>
              </a:ext>
            </a:extLst>
          </p:cNvPr>
          <p:cNvSpPr>
            <a:spLocks xmlns:a="http://schemas.openxmlformats.org/drawingml/2006/main" noGrp="1"/>
          </p:cNvSpPr>
          <p:nvPr/>
        </p:nvSpPr>
        <p:spPr>
          <a:xfrm xmlns:a="http://schemas.openxmlformats.org/drawingml/2006/main">
            <a:off x="8105775" y="3638550"/>
            <a:ext cx="3476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575" b="0">
                <a:solidFill>
                  <a:srgbClr val="2B373B"/>
                </a:solidFill>
                <a:latin typeface="Segoe UI"/>
                <a:ea typeface="Segoe UI"/>
                <a:cs typeface="Segoe UI"/>
              </a:defRPr>
            </a:pPr>
            <a:r>
              <a:rPr sz="1575" b="0">
                <a:solidFill>
                  <a:srgbClr val="2B373B"/>
                </a:solidFill>
                <a:latin typeface="Segoe UI"/>
                <a:ea typeface="Segoe UI"/>
                <a:cs typeface="Segoe UI"/>
              </a:rPr>
              <a:t>The original baseline also passes every final case. This does not establish a higher success rate than that baseline.</a:t>
            </a:r>
          </a:p>
        </p:txBody>
      </p:sp>
      <p:sp>
        <p:nvSpPr>
          <p:cNvPr id="10" name="Comparison retained">
            <a:extLst xmlns:a="http://schemas.openxmlformats.org/drawingml/2006/main">
              <a:ext uri="{FF2B5EF4-FFF2-40B4-BE49-F238E27FC236}">
                <a16:creationId xmlns:a16="http://schemas.microsoft.com/office/drawing/2014/main" id="{F48BE0F5-D1C4-43AD-9F2F-96BE289C6B51}"/>
              </a:ext>
            </a:extLst>
          </p:cNvPr>
          <p:cNvSpPr>
            <a:spLocks xmlns:a="http://schemas.openxmlformats.org/drawingml/2006/main" noGrp="1"/>
          </p:cNvSpPr>
          <p:nvPr/>
        </p:nvSpPr>
        <p:spPr>
          <a:xfrm xmlns:a="http://schemas.openxmlformats.org/drawingml/2006/main">
            <a:off x="8105775" y="5210175"/>
            <a:ext cx="347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350" b="0">
                <a:solidFill>
                  <a:srgbClr val="626262"/>
                </a:solidFill>
                <a:latin typeface="Segoe UI"/>
                <a:ea typeface="Segoe UI"/>
                <a:cs typeface="Segoe UI"/>
              </a:defRPr>
            </a:pPr>
            <a:r>
              <a:rPr sz="1350" b="0">
                <a:solidFill>
                  <a:srgbClr val="626262"/>
                </a:solidFill>
                <a:latin typeface="Segoe UI"/>
                <a:ea typeface="Segoe UI"/>
                <a:cs typeface="Segoe UI"/>
              </a:rPr>
              <a:t>All 96 development and final workflows remain preserved.</a:t>
            </a:r>
          </a:p>
        </p:txBody>
      </p:sp>
      <p:sp>
        <p:nvSpPr>
          <p:cNvPr id="11" name="">
            <a:extLst xmlns:a="http://schemas.openxmlformats.org/drawingml/2006/main">
              <a:ext uri="{FF2B5EF4-FFF2-40B4-BE49-F238E27FC236}">
                <a16:creationId xmlns:a16="http://schemas.microsoft.com/office/drawing/2014/main" id="{6F2E9551-C7F7-4C5C-BE97-4F396926DC91}"/>
              </a:ext>
            </a:extLst>
          </p:cNvPr>
          <p:cNvSpPr>
            <a:spLocks xmlns:a="http://schemas.openxmlformats.org/drawingml/2006/main" noGrp="1"/>
          </p:cNvSpPr>
          <p:nvPr/>
        </p:nvSpPr>
        <p:spPr>
          <a:xfrm xmlns:a="http://schemas.openxmlformats.org/drawingml/2006/main">
            <a:off x="609600" y="6019800"/>
            <a:ext cx="66675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12" name="Comparison scope">
            <a:extLst xmlns:a="http://schemas.openxmlformats.org/drawingml/2006/main">
              <a:ext uri="{FF2B5EF4-FFF2-40B4-BE49-F238E27FC236}">
                <a16:creationId xmlns:a16="http://schemas.microsoft.com/office/drawing/2014/main" id="{8A59CB0C-AD29-4558-9622-1D3A83E84C52}"/>
              </a:ext>
            </a:extLst>
          </p:cNvPr>
          <p:cNvSpPr>
            <a:spLocks xmlns:a="http://schemas.openxmlformats.org/drawingml/2006/main" noGrp="1"/>
          </p:cNvSpPr>
          <p:nvPr/>
        </p:nvSpPr>
        <p:spPr>
          <a:xfrm xmlns:a="http://schemas.openxmlformats.org/drawingml/2006/main">
            <a:off x="609600" y="6172200"/>
            <a:ext cx="723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200" b="0">
                <a:solidFill>
                  <a:srgbClr val="626262"/>
                </a:solidFill>
                <a:latin typeface="Segoe UI"/>
                <a:ea typeface="Segoe UI"/>
                <a:cs typeface="Segoe UI"/>
              </a:defRPr>
            </a:pPr>
            <a:r>
              <a:rPr sz="1200" b="0">
                <a:solidFill>
                  <a:srgbClr val="626262"/>
                </a:solidFill>
                <a:latin typeface="Segoe UI"/>
                <a:ea typeface="Segoe UI"/>
                <a:cs typeface="Segoe UI"/>
              </a:rPr>
              <a:t>Two narrow presets. Broad visual recovery remains unfinished.</a:t>
            </a:r>
          </a:p>
        </p:txBody>
      </p:sp>
    </p:spTree>
    <p:extLst>
      <p:ext uri="{BB962C8B-B14F-4D97-AF65-F5344CB8AC3E}">
        <p14:creationId xmlns:p14="http://schemas.microsoft.com/office/powerpoint/2010/main" val="1025525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A81BF790-8650-48D8-B894-A4AE46776A8B}"/>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850" b="1">
                <a:solidFill>
                  <a:srgbClr val="1B1338"/>
                </a:solidFill>
                <a:latin typeface="Segoe UI Semibold"/>
                <a:ea typeface="Segoe UI Semibold"/>
                <a:cs typeface="Segoe UI Semibold"/>
              </a:defRPr>
            </a:pPr>
            <a:r>
              <a:rPr sz="2850" b="1">
                <a:solidFill>
                  <a:srgbClr val="1B1338"/>
                </a:solidFill>
                <a:latin typeface="Segoe UI Semibold"/>
                <a:ea typeface="Segoe UI Semibold"/>
                <a:cs typeface="Segoe UI Semibold"/>
              </a:rPr>
              <a:t>Intel execution on the available laptop</a:t>
            </a:r>
          </a:p>
        </p:txBody>
      </p:sp>
      <p:sp>
        <p:nvSpPr>
          <p:cNvPr id="2" name="">
            <a:extLst xmlns:a="http://schemas.openxmlformats.org/drawingml/2006/main">
              <a:ext uri="{FF2B5EF4-FFF2-40B4-BE49-F238E27FC236}">
                <a16:creationId xmlns:a16="http://schemas.microsoft.com/office/drawing/2014/main" id="{63E100A8-3B43-4095-83B1-98D8FAB61648}"/>
              </a:ext>
            </a:extLst>
          </p:cNvPr>
          <p:cNvSpPr>
            <a:spLocks xmlns:a="http://schemas.openxmlformats.org/drawingml/2006/main" noGrp="1"/>
          </p:cNvSpPr>
          <p:nvPr/>
        </p:nvSpPr>
        <p:spPr>
          <a:xfrm xmlns:a="http://schemas.openxmlformats.org/drawingml/2006/main">
            <a:off x="609600" y="1200150"/>
            <a:ext cx="342900" cy="38100"/>
          </a:xfrm>
          <a:prstGeom xmlns:a="http://schemas.openxmlformats.org/drawingml/2006/main" prst="rect">
            <a:avLst/>
          </a:prstGeom>
          <a:solidFill xmlns:a="http://schemas.openxmlformats.org/drawingml/2006/main">
            <a:srgbClr val="29AB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ABDB2A-3A59-438C-A622-82C21D54BD2E}"/>
              </a:ext>
            </a:extLst>
          </p:cNvPr>
          <p:cNvSpPr>
            <a:spLocks xmlns:a="http://schemas.openxmlformats.org/drawingml/2006/main" noGrp="1"/>
          </p:cNvSpPr>
          <p:nvPr/>
        </p:nvSpPr>
        <p:spPr>
          <a:xfrm xmlns:a="http://schemas.openxmlformats.org/drawingml/2006/main">
            <a:off x="609600" y="6467475"/>
            <a:ext cx="109728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E5B40B67-9787-4DCB-8AD1-79DBCBDF532D}"/>
              </a:ext>
            </a:extLst>
          </p:cNvPr>
          <p:cNvSpPr>
            <a:spLocks xmlns:a="http://schemas.openxmlformats.org/drawingml/2006/main" noGrp="1"/>
          </p:cNvSpPr>
          <p:nvPr/>
        </p:nvSpPr>
        <p:spPr>
          <a:xfrm xmlns:a="http://schemas.openxmlformats.org/drawingml/2006/main">
            <a:off x="609600" y="65627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Talos</a:t>
            </a:r>
          </a:p>
        </p:txBody>
      </p:sp>
      <p:sp>
        <p:nvSpPr>
          <p:cNvPr id="5" name="Page">
            <a:extLst xmlns:a="http://schemas.openxmlformats.org/drawingml/2006/main">
              <a:ext uri="{FF2B5EF4-FFF2-40B4-BE49-F238E27FC236}">
                <a16:creationId xmlns:a16="http://schemas.microsoft.com/office/drawing/2014/main" id="{CA9A3B84-43FE-4D8C-9CDC-3FECEB071FDB}"/>
              </a:ext>
            </a:extLst>
          </p:cNvPr>
          <p:cNvSpPr>
            <a:spLocks xmlns:a="http://schemas.openxmlformats.org/drawingml/2006/main" noGrp="1"/>
          </p:cNvSpPr>
          <p:nvPr/>
        </p:nvSpPr>
        <p:spPr>
          <a:xfrm xmlns:a="http://schemas.openxmlformats.org/drawingml/2006/main">
            <a:off x="11125200" y="6562725"/>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07</a:t>
            </a:r>
          </a:p>
        </p:txBody>
      </p:sp>
      <p:sp>
        <p:nvSpPr>
          <p:cNvPr id="6" name="Intel execution result">
            <a:extLst xmlns:a="http://schemas.openxmlformats.org/drawingml/2006/main">
              <a:ext uri="{FF2B5EF4-FFF2-40B4-BE49-F238E27FC236}">
                <a16:creationId xmlns:a16="http://schemas.microsoft.com/office/drawing/2014/main" id="{343B20CD-E991-4979-8B13-D8CA0B920462}"/>
              </a:ext>
            </a:extLst>
          </p:cNvPr>
          <p:cNvSpPr>
            <a:spLocks xmlns:a="http://schemas.openxmlformats.org/drawingml/2006/main" noGrp="1"/>
          </p:cNvSpPr>
          <p:nvPr/>
        </p:nvSpPr>
        <p:spPr>
          <a:xfrm xmlns:a="http://schemas.openxmlformats.org/drawingml/2006/main">
            <a:off x="609600" y="1647825"/>
            <a:ext cx="7810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325" b="1">
                <a:solidFill>
                  <a:srgbClr val="1B1338"/>
                </a:solidFill>
                <a:latin typeface="Segoe UI Semibold"/>
                <a:ea typeface="Segoe UI Semibold"/>
                <a:cs typeface="Segoe UI Semibold"/>
              </a:defRPr>
            </a:pPr>
            <a:r>
              <a:rPr sz="2325" b="1">
                <a:solidFill>
                  <a:srgbClr val="1B1338"/>
                </a:solidFill>
                <a:latin typeface="Segoe UI Semibold"/>
                <a:ea typeface="Segoe UI Semibold"/>
                <a:cs typeface="Segoe UI Semibold"/>
              </a:rPr>
              <a:t>Six learned tasks complete with Intel CPU or iGPU inference and Intel UHD rendering.</a:t>
            </a:r>
          </a:p>
        </p:txBody>
      </p:sp>
      <p:sp>
        <p:nvSpPr>
          <p:cNvPr id="7" name="Intel hardware">
            <a:extLst xmlns:a="http://schemas.openxmlformats.org/drawingml/2006/main">
              <a:ext uri="{FF2B5EF4-FFF2-40B4-BE49-F238E27FC236}">
                <a16:creationId xmlns:a16="http://schemas.microsoft.com/office/drawing/2014/main" id="{7A0BC838-5B82-4CE4-9D3D-4CC1AB87CE81}"/>
              </a:ext>
            </a:extLst>
          </p:cNvPr>
          <p:cNvSpPr>
            <a:spLocks xmlns:a="http://schemas.openxmlformats.org/drawingml/2006/main" noGrp="1"/>
          </p:cNvSpPr>
          <p:nvPr/>
        </p:nvSpPr>
        <p:spPr>
          <a:xfrm xmlns:a="http://schemas.openxmlformats.org/drawingml/2006/main">
            <a:off x="8715375" y="1714500"/>
            <a:ext cx="28670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175" b="1">
                <a:solidFill>
                  <a:srgbClr val="1B1338"/>
                </a:solidFill>
                <a:latin typeface="Segoe UI Semibold"/>
                <a:ea typeface="Segoe UI Semibold"/>
                <a:cs typeface="Segoe UI Semibold"/>
              </a:defRPr>
            </a:pPr>
            <a:r>
              <a:rPr sz="2175" b="1">
                <a:solidFill>
                  <a:srgbClr val="1B1338"/>
                </a:solidFill>
                <a:latin typeface="Segoe UI Semibold"/>
                <a:ea typeface="Segoe UI Semibold"/>
                <a:cs typeface="Segoe UI Semibold"/>
              </a:rPr>
              <a:t>Core i7-10850H</a:t>
            </a:r>
          </a:p>
        </p:txBody>
      </p:sp>
      <p:sp>
        <p:nvSpPr>
          <p:cNvPr id="8" name="Intel test scope">
            <a:extLst xmlns:a="http://schemas.openxmlformats.org/drawingml/2006/main">
              <a:ext uri="{FF2B5EF4-FFF2-40B4-BE49-F238E27FC236}">
                <a16:creationId xmlns:a16="http://schemas.microsoft.com/office/drawing/2014/main" id="{EB295F87-14E8-4C1C-83CB-8162E19672FD}"/>
              </a:ext>
            </a:extLst>
          </p:cNvPr>
          <p:cNvSpPr>
            <a:spLocks xmlns:a="http://schemas.openxmlformats.org/drawingml/2006/main" noGrp="1"/>
          </p:cNvSpPr>
          <p:nvPr/>
        </p:nvSpPr>
        <p:spPr>
          <a:xfrm xmlns:a="http://schemas.openxmlformats.org/drawingml/2006/main">
            <a:off x="8715375" y="2695575"/>
            <a:ext cx="28670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500" b="0">
                <a:solidFill>
                  <a:srgbClr val="626262"/>
                </a:solidFill>
                <a:latin typeface="Segoe UI"/>
                <a:ea typeface="Segoe UI"/>
                <a:cs typeface="Segoe UI"/>
              </a:defRPr>
            </a:pPr>
            <a:r>
              <a:rPr sz="1500" b="0">
                <a:solidFill>
                  <a:srgbClr val="626262"/>
                </a:solidFill>
                <a:latin typeface="Segoe UI"/>
                <a:ea typeface="Segoe UI"/>
                <a:cs typeface="Segoe UI"/>
              </a:rPr>
              <a:t>Legacy Intel hardware</a:t>
            </a:r>
          </a:p>
          <a:p xmlns:a="http://schemas.openxmlformats.org/drawingml/2006/main">
            <a:pPr>
              <a:lnSpc>
                <a:spcPct val="120000"/>
              </a:lnSpc>
              <a:buNone/>
              <a:defRPr sz="1500" b="0">
                <a:solidFill>
                  <a:srgbClr val="626262"/>
                </a:solidFill>
                <a:latin typeface="Segoe UI"/>
                <a:ea typeface="Segoe UI"/>
                <a:cs typeface="Segoe UI"/>
              </a:defRPr>
            </a:pPr>
            <a:r>
              <a:rPr sz="1500" b="0">
                <a:solidFill>
                  <a:srgbClr val="626262"/>
                </a:solidFill>
                <a:latin typeface="Segoe UI"/>
                <a:ea typeface="Segoe UI"/>
                <a:cs typeface="Segoe UI"/>
              </a:rPr>
              <a:t>Tested on seed 42</a:t>
            </a:r>
          </a:p>
          <a:p xmlns:a="http://schemas.openxmlformats.org/drawingml/2006/main">
            <a:pPr>
              <a:lnSpc>
                <a:spcPct val="120000"/>
              </a:lnSpc>
              <a:buNone/>
              <a:defRPr sz="1500" b="0">
                <a:solidFill>
                  <a:srgbClr val="626262"/>
                </a:solidFill>
                <a:latin typeface="Segoe UI"/>
                <a:ea typeface="Segoe UI"/>
                <a:cs typeface="Segoe UI"/>
              </a:defRPr>
            </a:pPr>
            <a:r>
              <a:rPr sz="1500" b="0">
                <a:solidFill>
                  <a:srgbClr val="626262"/>
                </a:solidFill>
                <a:latin typeface="Segoe UI"/>
                <a:ea typeface="Segoe UI"/>
                <a:cs typeface="Segoe UI"/>
              </a:rPr>
              <a:t>Recorded physical outcomes</a:t>
            </a:r>
          </a:p>
        </p:txBody>
      </p:sp>
      <p:sp>
        <p:nvSpPr>
          <p:cNvPr id="9" name="">
            <a:extLst xmlns:a="http://schemas.openxmlformats.org/drawingml/2006/main">
              <a:ext uri="{FF2B5EF4-FFF2-40B4-BE49-F238E27FC236}">
                <a16:creationId xmlns:a16="http://schemas.microsoft.com/office/drawing/2014/main" id="{A291DC7B-4F25-4FDE-B6EE-CDBF6A8D8A2A}"/>
              </a:ext>
            </a:extLst>
          </p:cNvPr>
          <p:cNvSpPr>
            <a:spLocks xmlns:a="http://schemas.openxmlformats.org/drawingml/2006/main" noGrp="1"/>
          </p:cNvSpPr>
          <p:nvPr/>
        </p:nvSpPr>
        <p:spPr>
          <a:xfrm xmlns:a="http://schemas.openxmlformats.org/drawingml/2006/main">
            <a:off x="609600" y="3305175"/>
            <a:ext cx="75057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10" name="Benchmark context">
            <a:extLst xmlns:a="http://schemas.openxmlformats.org/drawingml/2006/main">
              <a:ext uri="{FF2B5EF4-FFF2-40B4-BE49-F238E27FC236}">
                <a16:creationId xmlns:a16="http://schemas.microsoft.com/office/drawing/2014/main" id="{6EFCD8BC-6912-4860-AB66-D0E28DEFF5C3}"/>
              </a:ext>
            </a:extLst>
          </p:cNvPr>
          <p:cNvSpPr>
            <a:spLocks xmlns:a="http://schemas.openxmlformats.org/drawingml/2006/main" noGrp="1"/>
          </p:cNvSpPr>
          <p:nvPr/>
        </p:nvSpPr>
        <p:spPr>
          <a:xfrm xmlns:a="http://schemas.openxmlformats.org/drawingml/2006/main">
            <a:off x="609600" y="3543300"/>
            <a:ext cx="757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575" b="0">
                <a:solidFill>
                  <a:srgbClr val="626262"/>
                </a:solidFill>
                <a:latin typeface="Segoe UI"/>
                <a:ea typeface="Segoe UI"/>
                <a:cs typeface="Segoe UI"/>
              </a:defRPr>
            </a:pPr>
            <a:r>
              <a:rPr sz="1575" b="0">
                <a:solidFill>
                  <a:srgbClr val="626262"/>
                </a:solidFill>
                <a:latin typeface="Segoe UI"/>
                <a:ea typeface="Segoe UI"/>
                <a:cs typeface="Segoe UI"/>
              </a:rPr>
              <a:t>Historical original-bottle network timing</a:t>
            </a:r>
          </a:p>
        </p:txBody>
      </p:sp>
      <p:sp>
        <p:nvSpPr>
          <p:cNvPr id="11" name="CPU benchmark">
            <a:extLst xmlns:a="http://schemas.openxmlformats.org/drawingml/2006/main">
              <a:ext uri="{FF2B5EF4-FFF2-40B4-BE49-F238E27FC236}">
                <a16:creationId xmlns:a16="http://schemas.microsoft.com/office/drawing/2014/main" id="{B970F070-EFD0-4CEE-8D95-CF817E36C889}"/>
              </a:ext>
            </a:extLst>
          </p:cNvPr>
          <p:cNvSpPr>
            <a:spLocks xmlns:a="http://schemas.openxmlformats.org/drawingml/2006/main" noGrp="1"/>
          </p:cNvSpPr>
          <p:nvPr/>
        </p:nvSpPr>
        <p:spPr>
          <a:xfrm xmlns:a="http://schemas.openxmlformats.org/drawingml/2006/main">
            <a:off x="609600" y="4152900"/>
            <a:ext cx="3333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4350" b="1">
                <a:solidFill>
                  <a:srgbClr val="1B1338"/>
                </a:solidFill>
                <a:latin typeface="Segoe UI Semibold"/>
                <a:ea typeface="Segoe UI Semibold"/>
                <a:cs typeface="Segoe UI Semibold"/>
              </a:defRPr>
            </a:pPr>
            <a:r>
              <a:rPr sz="4350" b="1">
                <a:solidFill>
                  <a:srgbClr val="1B1338"/>
                </a:solidFill>
                <a:latin typeface="Segoe UI Semibold"/>
                <a:ea typeface="Segoe UI Semibold"/>
                <a:cs typeface="Segoe UI Semibold"/>
              </a:rPr>
              <a:t>0.157 ms</a:t>
            </a:r>
          </a:p>
        </p:txBody>
      </p:sp>
      <p:sp>
        <p:nvSpPr>
          <p:cNvPr id="12" name="CPU benchmark label">
            <a:extLst xmlns:a="http://schemas.openxmlformats.org/drawingml/2006/main">
              <a:ext uri="{FF2B5EF4-FFF2-40B4-BE49-F238E27FC236}">
                <a16:creationId xmlns:a16="http://schemas.microsoft.com/office/drawing/2014/main" id="{F1B38946-DF9A-463C-9B87-31E400518A0E}"/>
              </a:ext>
            </a:extLst>
          </p:cNvPr>
          <p:cNvSpPr>
            <a:spLocks xmlns:a="http://schemas.openxmlformats.org/drawingml/2006/main" noGrp="1"/>
          </p:cNvSpPr>
          <p:nvPr/>
        </p:nvSpPr>
        <p:spPr>
          <a:xfrm xmlns:a="http://schemas.openxmlformats.org/drawingml/2006/main">
            <a:off x="609600" y="50482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425" b="0">
                <a:solidFill>
                  <a:srgbClr val="2B373B"/>
                </a:solidFill>
                <a:latin typeface="Segoe UI"/>
                <a:ea typeface="Segoe UI"/>
                <a:cs typeface="Segoe UI"/>
              </a:defRPr>
            </a:pPr>
            <a:r>
              <a:rPr sz="1425" b="0">
                <a:solidFill>
                  <a:srgbClr val="2B373B"/>
                </a:solidFill>
                <a:latin typeface="Segoe UI"/>
                <a:ea typeface="Segoe UI"/>
                <a:cs typeface="Segoe UI"/>
              </a:rPr>
              <a:t>Intel CPU, FP32 inference</a:t>
            </a:r>
          </a:p>
        </p:txBody>
      </p:sp>
      <p:sp>
        <p:nvSpPr>
          <p:cNvPr id="13" name="GPU benchmark">
            <a:extLst xmlns:a="http://schemas.openxmlformats.org/drawingml/2006/main">
              <a:ext uri="{FF2B5EF4-FFF2-40B4-BE49-F238E27FC236}">
                <a16:creationId xmlns:a16="http://schemas.microsoft.com/office/drawing/2014/main" id="{4F71C918-3E73-48ED-9E40-D0876637E794}"/>
              </a:ext>
            </a:extLst>
          </p:cNvPr>
          <p:cNvSpPr>
            <a:spLocks xmlns:a="http://schemas.openxmlformats.org/drawingml/2006/main" noGrp="1"/>
          </p:cNvSpPr>
          <p:nvPr/>
        </p:nvSpPr>
        <p:spPr>
          <a:xfrm xmlns:a="http://schemas.openxmlformats.org/drawingml/2006/main">
            <a:off x="4638675" y="4152900"/>
            <a:ext cx="34575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4350" b="1">
                <a:solidFill>
                  <a:srgbClr val="1B1338"/>
                </a:solidFill>
                <a:latin typeface="Segoe UI Semibold"/>
                <a:ea typeface="Segoe UI Semibold"/>
                <a:cs typeface="Segoe UI Semibold"/>
              </a:defRPr>
            </a:pPr>
            <a:r>
              <a:rPr sz="4350" b="1">
                <a:solidFill>
                  <a:srgbClr val="1B1338"/>
                </a:solidFill>
                <a:latin typeface="Segoe UI Semibold"/>
                <a:ea typeface="Segoe UI Semibold"/>
                <a:cs typeface="Segoe UI Semibold"/>
              </a:rPr>
              <a:t>0.688 ms</a:t>
            </a:r>
          </a:p>
        </p:txBody>
      </p:sp>
      <p:sp>
        <p:nvSpPr>
          <p:cNvPr id="14" name="GPU benchmark label">
            <a:extLst xmlns:a="http://schemas.openxmlformats.org/drawingml/2006/main">
              <a:ext uri="{FF2B5EF4-FFF2-40B4-BE49-F238E27FC236}">
                <a16:creationId xmlns:a16="http://schemas.microsoft.com/office/drawing/2014/main" id="{7AF11F2B-F4F7-4554-90DD-4E490CCC1433}"/>
              </a:ext>
            </a:extLst>
          </p:cNvPr>
          <p:cNvSpPr>
            <a:spLocks xmlns:a="http://schemas.openxmlformats.org/drawingml/2006/main" noGrp="1"/>
          </p:cNvSpPr>
          <p:nvPr/>
        </p:nvSpPr>
        <p:spPr>
          <a:xfrm xmlns:a="http://schemas.openxmlformats.org/drawingml/2006/main">
            <a:off x="4638675" y="5048250"/>
            <a:ext cx="3933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425" b="0">
                <a:solidFill>
                  <a:srgbClr val="2B373B"/>
                </a:solidFill>
                <a:latin typeface="Segoe UI"/>
                <a:ea typeface="Segoe UI"/>
                <a:cs typeface="Segoe UI"/>
              </a:defRPr>
            </a:pPr>
            <a:r>
              <a:rPr sz="1425" b="0">
                <a:solidFill>
                  <a:srgbClr val="2B373B"/>
                </a:solidFill>
                <a:latin typeface="Segoe UI"/>
                <a:ea typeface="Segoe UI"/>
                <a:cs typeface="Segoe UI"/>
              </a:rPr>
              <a:t>Intel UHD iGPU, FP32 inference</a:t>
            </a:r>
          </a:p>
        </p:txBody>
      </p:sp>
      <p:sp>
        <p:nvSpPr>
          <p:cNvPr id="15" name="Benchmark scope">
            <a:extLst xmlns:a="http://schemas.openxmlformats.org/drawingml/2006/main">
              <a:ext uri="{FF2B5EF4-FFF2-40B4-BE49-F238E27FC236}">
                <a16:creationId xmlns:a16="http://schemas.microsoft.com/office/drawing/2014/main" id="{EABBADB4-8477-41EF-B175-2D4CB8BA1BAB}"/>
              </a:ext>
            </a:extLst>
          </p:cNvPr>
          <p:cNvSpPr>
            <a:spLocks xmlns:a="http://schemas.openxmlformats.org/drawingml/2006/main" noGrp="1"/>
          </p:cNvSpPr>
          <p:nvPr/>
        </p:nvSpPr>
        <p:spPr>
          <a:xfrm xmlns:a="http://schemas.openxmlformats.org/drawingml/2006/main">
            <a:off x="8953500" y="4286250"/>
            <a:ext cx="26289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350" b="0">
                <a:solidFill>
                  <a:srgbClr val="626262"/>
                </a:solidFill>
                <a:latin typeface="Segoe UI"/>
                <a:ea typeface="Segoe UI"/>
                <a:cs typeface="Segoe UI"/>
              </a:defRPr>
            </a:pPr>
            <a:r>
              <a:rPr sz="1350" b="0">
                <a:solidFill>
                  <a:srgbClr val="626262"/>
                </a:solidFill>
                <a:latin typeface="Segoe UI"/>
                <a:ea typeface="Segoe UI"/>
                <a:cs typeface="Segoe UI"/>
              </a:rPr>
              <a:t>Network-only medians.</a:t>
            </a:r>
          </a:p>
          <a:p xmlns:a="http://schemas.openxmlformats.org/drawingml/2006/main">
            <a:pPr>
              <a:lnSpc>
                <a:spcPct val="120000"/>
              </a:lnSpc>
              <a:buNone/>
              <a:defRPr sz="1350" b="0">
                <a:solidFill>
                  <a:srgbClr val="626262"/>
                </a:solidFill>
                <a:latin typeface="Segoe UI"/>
                <a:ea typeface="Segoe UI"/>
                <a:cs typeface="Segoe UI"/>
              </a:defRPr>
            </a:pPr>
            <a:r>
              <a:rPr sz="1350" b="0">
                <a:solidFill>
                  <a:srgbClr val="626262"/>
                </a:solidFill>
                <a:latin typeface="Segoe UI"/>
                <a:ea typeface="Segoe UI"/>
                <a:cs typeface="Segoe UI"/>
              </a:rPr>
              <a:t>These are not full robot</a:t>
            </a:r>
          </a:p>
          <a:p xmlns:a="http://schemas.openxmlformats.org/drawingml/2006/main">
            <a:pPr>
              <a:lnSpc>
                <a:spcPct val="120000"/>
              </a:lnSpc>
              <a:buNone/>
              <a:defRPr sz="1350" b="0">
                <a:solidFill>
                  <a:srgbClr val="626262"/>
                </a:solidFill>
                <a:latin typeface="Segoe UI"/>
                <a:ea typeface="Segoe UI"/>
                <a:cs typeface="Segoe UI"/>
              </a:defRPr>
            </a:pPr>
            <a:r>
              <a:rPr sz="1350" b="0">
                <a:solidFill>
                  <a:srgbClr val="626262"/>
                </a:solidFill>
                <a:latin typeface="Segoe UI"/>
                <a:ea typeface="Segoe UI"/>
                <a:cs typeface="Segoe UI"/>
              </a:rPr>
              <a:t>control-loop timings.</a:t>
            </a:r>
          </a:p>
        </p:txBody>
      </p:sp>
      <p:sp>
        <p:nvSpPr>
          <p:cNvPr id="16" name="">
            <a:extLst xmlns:a="http://schemas.openxmlformats.org/drawingml/2006/main">
              <a:ext uri="{FF2B5EF4-FFF2-40B4-BE49-F238E27FC236}">
                <a16:creationId xmlns:a16="http://schemas.microsoft.com/office/drawing/2014/main" id="{0CE949DD-576E-412B-B80C-3DD193B690AD}"/>
              </a:ext>
            </a:extLst>
          </p:cNvPr>
          <p:cNvSpPr>
            <a:spLocks xmlns:a="http://schemas.openxmlformats.org/drawingml/2006/main" noGrp="1"/>
          </p:cNvSpPr>
          <p:nvPr/>
        </p:nvSpPr>
        <p:spPr>
          <a:xfrm xmlns:a="http://schemas.openxmlformats.org/drawingml/2006/main">
            <a:off x="609600" y="5695950"/>
            <a:ext cx="109728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17" name="Hardware eligibility">
            <a:extLst xmlns:a="http://schemas.openxmlformats.org/drawingml/2006/main">
              <a:ext uri="{FF2B5EF4-FFF2-40B4-BE49-F238E27FC236}">
                <a16:creationId xmlns:a16="http://schemas.microsoft.com/office/drawing/2014/main" id="{B3837A53-E9E9-498B-BF72-F982EF44CBC9}"/>
              </a:ext>
            </a:extLst>
          </p:cNvPr>
          <p:cNvSpPr>
            <a:spLocks xmlns:a="http://schemas.openxmlformats.org/drawingml/2006/main" noGrp="1"/>
          </p:cNvSpPr>
          <p:nvPr/>
        </p:nvSpPr>
        <p:spPr>
          <a:xfrm xmlns:a="http://schemas.openxmlformats.org/drawingml/2006/main">
            <a:off x="609600" y="587692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425" b="0">
                <a:solidFill>
                  <a:srgbClr val="2B373B"/>
                </a:solidFill>
                <a:latin typeface="Segoe UI"/>
                <a:ea typeface="Segoe UI"/>
                <a:cs typeface="Segoe UI"/>
              </a:defRPr>
            </a:pPr>
            <a:r>
              <a:rPr sz="1425" b="0">
                <a:solidFill>
                  <a:srgbClr val="2B373B"/>
                </a:solidFill>
                <a:latin typeface="Segoe UI"/>
                <a:ea typeface="Segoe UI"/>
                <a:cs typeface="Segoe UI"/>
              </a:rPr>
              <a:t>Core Ultra Series 2/3 eligibility remains unresolved.</a:t>
            </a:r>
          </a:p>
          <a:p xmlns:a="http://schemas.openxmlformats.org/drawingml/2006/main">
            <a:pPr>
              <a:lnSpc>
                <a:spcPct val="120000"/>
              </a:lnSpc>
              <a:buNone/>
              <a:defRPr sz="1425" b="0">
                <a:solidFill>
                  <a:srgbClr val="2B373B"/>
                </a:solidFill>
                <a:latin typeface="Segoe UI"/>
                <a:ea typeface="Segoe UI"/>
                <a:cs typeface="Segoe UI"/>
              </a:defRPr>
            </a:pPr>
            <a:r>
              <a:rPr sz="1425" b="0">
                <a:solidFill>
                  <a:srgbClr val="2B373B"/>
                </a:solidFill>
                <a:latin typeface="Segoe UI"/>
                <a:ea typeface="Segoe UI"/>
                <a:cs typeface="Segoe UI"/>
              </a:rPr>
              <a:t>The latest live-mug profile also needs its separate Intel verification run.</a:t>
            </a:r>
          </a:p>
        </p:txBody>
      </p:sp>
    </p:spTree>
    <p:extLst>
      <p:ext uri="{BB962C8B-B14F-4D97-AF65-F5344CB8AC3E}">
        <p14:creationId xmlns:p14="http://schemas.microsoft.com/office/powerpoint/2010/main" val="17753621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 title">
            <a:extLst xmlns:a="http://schemas.openxmlformats.org/drawingml/2006/main">
              <a:ext uri="{FF2B5EF4-FFF2-40B4-BE49-F238E27FC236}">
                <a16:creationId xmlns:a16="http://schemas.microsoft.com/office/drawing/2014/main" id="{EBF3DA02-0856-4634-B819-271BFD6CB1C5}"/>
              </a:ext>
            </a:extLst>
          </p:cNvPr>
          <p:cNvSpPr>
            <a:spLocks xmlns:a="http://schemas.openxmlformats.org/drawingml/2006/main" noGrp="1"/>
          </p:cNvSpPr>
          <p:nvPr/>
        </p:nvSpPr>
        <p:spPr>
          <a:xfrm xmlns:a="http://schemas.openxmlformats.org/drawingml/2006/main">
            <a:off x="609600" y="400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850" b="1">
                <a:solidFill>
                  <a:srgbClr val="1B1338"/>
                </a:solidFill>
                <a:latin typeface="Segoe UI Semibold"/>
                <a:ea typeface="Segoe UI Semibold"/>
                <a:cs typeface="Segoe UI Semibold"/>
              </a:defRPr>
            </a:pPr>
            <a:r>
              <a:rPr sz="2850" b="1">
                <a:solidFill>
                  <a:srgbClr val="1B1338"/>
                </a:solidFill>
                <a:latin typeface="Segoe UI Semibold"/>
                <a:ea typeface="Segoe UI Semibold"/>
                <a:cs typeface="Segoe UI Semibold"/>
              </a:rPr>
              <a:t>Broader seven-item control remains unfinished</a:t>
            </a:r>
          </a:p>
        </p:txBody>
      </p:sp>
      <p:sp>
        <p:nvSpPr>
          <p:cNvPr id="2" name="">
            <a:extLst xmlns:a="http://schemas.openxmlformats.org/drawingml/2006/main">
              <a:ext uri="{FF2B5EF4-FFF2-40B4-BE49-F238E27FC236}">
                <a16:creationId xmlns:a16="http://schemas.microsoft.com/office/drawing/2014/main" id="{311669F4-9549-4882-BA23-95D16EF320F1}"/>
              </a:ext>
            </a:extLst>
          </p:cNvPr>
          <p:cNvSpPr>
            <a:spLocks xmlns:a="http://schemas.openxmlformats.org/drawingml/2006/main" noGrp="1"/>
          </p:cNvSpPr>
          <p:nvPr/>
        </p:nvSpPr>
        <p:spPr>
          <a:xfrm xmlns:a="http://schemas.openxmlformats.org/drawingml/2006/main">
            <a:off x="609600" y="1200150"/>
            <a:ext cx="342900" cy="38100"/>
          </a:xfrm>
          <a:prstGeom xmlns:a="http://schemas.openxmlformats.org/drawingml/2006/main" prst="rect">
            <a:avLst/>
          </a:prstGeom>
          <a:solidFill xmlns:a="http://schemas.openxmlformats.org/drawingml/2006/main">
            <a:srgbClr val="29ABE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6F07A9-65C6-45CC-A517-F6388D631DD4}"/>
              </a:ext>
            </a:extLst>
          </p:cNvPr>
          <p:cNvSpPr>
            <a:spLocks xmlns:a="http://schemas.openxmlformats.org/drawingml/2006/main" noGrp="1"/>
          </p:cNvSpPr>
          <p:nvPr/>
        </p:nvSpPr>
        <p:spPr>
          <a:xfrm xmlns:a="http://schemas.openxmlformats.org/drawingml/2006/main">
            <a:off x="609600" y="6467475"/>
            <a:ext cx="109728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C0562A1E-2282-4570-933C-33DE62E72A84}"/>
              </a:ext>
            </a:extLst>
          </p:cNvPr>
          <p:cNvSpPr>
            <a:spLocks xmlns:a="http://schemas.openxmlformats.org/drawingml/2006/main" noGrp="1"/>
          </p:cNvSpPr>
          <p:nvPr/>
        </p:nvSpPr>
        <p:spPr>
          <a:xfrm xmlns:a="http://schemas.openxmlformats.org/drawingml/2006/main">
            <a:off x="609600" y="65627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Talos</a:t>
            </a:r>
          </a:p>
        </p:txBody>
      </p:sp>
      <p:sp>
        <p:nvSpPr>
          <p:cNvPr id="5" name="Page">
            <a:extLst xmlns:a="http://schemas.openxmlformats.org/drawingml/2006/main">
              <a:ext uri="{FF2B5EF4-FFF2-40B4-BE49-F238E27FC236}">
                <a16:creationId xmlns:a16="http://schemas.microsoft.com/office/drawing/2014/main" id="{9D3DC42E-08B9-4612-9C52-99CB9B8D46F4}"/>
              </a:ext>
            </a:extLst>
          </p:cNvPr>
          <p:cNvSpPr>
            <a:spLocks xmlns:a="http://schemas.openxmlformats.org/drawingml/2006/main" noGrp="1"/>
          </p:cNvSpPr>
          <p:nvPr/>
        </p:nvSpPr>
        <p:spPr>
          <a:xfrm xmlns:a="http://schemas.openxmlformats.org/drawingml/2006/main">
            <a:off x="11125200" y="6562725"/>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0000"/>
              </a:lnSpc>
              <a:buNone/>
              <a:defRPr sz="825" b="0">
                <a:solidFill>
                  <a:srgbClr val="626262"/>
                </a:solidFill>
                <a:latin typeface="Segoe UI"/>
                <a:ea typeface="Segoe UI"/>
                <a:cs typeface="Segoe UI"/>
              </a:defRPr>
            </a:pPr>
            <a:r>
              <a:rPr sz="825" b="0">
                <a:solidFill>
                  <a:srgbClr val="626262"/>
                </a:solidFill>
                <a:latin typeface="Segoe UI"/>
                <a:ea typeface="Segoe UI"/>
                <a:cs typeface="Segoe UI"/>
              </a:rPr>
              <a:t>08</a:t>
            </a:r>
          </a:p>
        </p:txBody>
      </p:sp>
      <p:sp>
        <p:nvSpPr>
          <p:cNvPr id="6" name="Broader objective">
            <a:extLst xmlns:a="http://schemas.openxmlformats.org/drawingml/2006/main">
              <a:ext uri="{FF2B5EF4-FFF2-40B4-BE49-F238E27FC236}">
                <a16:creationId xmlns:a16="http://schemas.microsoft.com/office/drawing/2014/main" id="{B7448DB0-E8B8-422D-B209-6061040B3C02}"/>
              </a:ext>
            </a:extLst>
          </p:cNvPr>
          <p:cNvSpPr>
            <a:spLocks xmlns:a="http://schemas.openxmlformats.org/drawingml/2006/main" noGrp="1"/>
          </p:cNvSpPr>
          <p:nvPr/>
        </p:nvSpPr>
        <p:spPr>
          <a:xfrm xmlns:a="http://schemas.openxmlformats.org/drawingml/2006/main">
            <a:off x="609600" y="1714500"/>
            <a:ext cx="70199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2400" b="1">
                <a:solidFill>
                  <a:srgbClr val="1B1338"/>
                </a:solidFill>
                <a:latin typeface="Segoe UI Semibold"/>
                <a:ea typeface="Segoe UI Semibold"/>
                <a:cs typeface="Segoe UI Semibold"/>
              </a:defRPr>
            </a:pPr>
            <a:r>
              <a:rPr sz="2400" b="1">
                <a:solidFill>
                  <a:srgbClr val="1B1338"/>
                </a:solidFill>
                <a:latin typeface="Segoe UI Semibold"/>
                <a:ea typeface="Segoe UI Semibold"/>
                <a:cs typeface="Segoe UI Semibold"/>
              </a:rPr>
              <a:t>Jointly randomized objects,</a:t>
            </a:r>
          </a:p>
          <a:p xmlns:a="http://schemas.openxmlformats.org/drawingml/2006/main">
            <a:pPr>
              <a:lnSpc>
                <a:spcPct val="120000"/>
              </a:lnSpc>
              <a:buNone/>
              <a:defRPr sz="2400" b="1">
                <a:solidFill>
                  <a:srgbClr val="1B1338"/>
                </a:solidFill>
                <a:latin typeface="Segoe UI Semibold"/>
                <a:ea typeface="Segoe UI Semibold"/>
                <a:cs typeface="Segoe UI Semibold"/>
              </a:defRPr>
            </a:pPr>
            <a:r>
              <a:rPr sz="2400" b="1">
                <a:solidFill>
                  <a:srgbClr val="1B1338"/>
                </a:solidFill>
                <a:latin typeface="Segoe UI Semibold"/>
                <a:ea typeface="Segoe UI Semibold"/>
                <a:cs typeface="Segoe UI Semibold"/>
              </a:rPr>
              <a:t>full tabletop rotation and</a:t>
            </a:r>
          </a:p>
          <a:p xmlns:a="http://schemas.openxmlformats.org/drawingml/2006/main">
            <a:pPr>
              <a:lnSpc>
                <a:spcPct val="120000"/>
              </a:lnSpc>
              <a:buNone/>
              <a:defRPr sz="2400" b="1">
                <a:solidFill>
                  <a:srgbClr val="1B1338"/>
                </a:solidFill>
                <a:latin typeface="Segoe UI Semibold"/>
                <a:ea typeface="Segoe UI Semibold"/>
                <a:cs typeface="Segoe UI Semibold"/>
              </a:defRPr>
            </a:pPr>
            <a:r>
              <a:rPr sz="2400" b="1">
                <a:solidFill>
                  <a:srgbClr val="1B1338"/>
                </a:solidFill>
                <a:latin typeface="Segoe UI Semibold"/>
                <a:ea typeface="Segoe UI Semibold"/>
                <a:cs typeface="Segoe UI Semibold"/>
              </a:rPr>
              <a:t>stable alternative orientations</a:t>
            </a:r>
          </a:p>
        </p:txBody>
      </p:sp>
      <p:sp>
        <p:nvSpPr>
          <p:cNvPr id="7" name="Completed joint workflows">
            <a:extLst xmlns:a="http://schemas.openxmlformats.org/drawingml/2006/main">
              <a:ext uri="{FF2B5EF4-FFF2-40B4-BE49-F238E27FC236}">
                <a16:creationId xmlns:a16="http://schemas.microsoft.com/office/drawing/2014/main" id="{DD67931E-3615-40A8-A1E2-21DD9A505C1D}"/>
              </a:ext>
            </a:extLst>
          </p:cNvPr>
          <p:cNvSpPr>
            <a:spLocks xmlns:a="http://schemas.openxmlformats.org/drawingml/2006/main" noGrp="1"/>
          </p:cNvSpPr>
          <p:nvPr/>
        </p:nvSpPr>
        <p:spPr>
          <a:xfrm xmlns:a="http://schemas.openxmlformats.org/drawingml/2006/main">
            <a:off x="9144000" y="1504950"/>
            <a:ext cx="21907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8250" b="1">
                <a:solidFill>
                  <a:srgbClr val="1B1338"/>
                </a:solidFill>
                <a:latin typeface="Segoe UI Semibold"/>
                <a:ea typeface="Segoe UI Semibold"/>
                <a:cs typeface="Segoe UI Semibold"/>
              </a:defRPr>
            </a:pPr>
            <a:r>
              <a:rPr sz="8250" b="1">
                <a:solidFill>
                  <a:srgbClr val="1B1338"/>
                </a:solidFill>
                <a:latin typeface="Segoe UI Semibold"/>
                <a:ea typeface="Segoe UI Semibold"/>
                <a:cs typeface="Segoe UI Semibold"/>
              </a:rPr>
              <a:t>0</a:t>
            </a:r>
          </a:p>
        </p:txBody>
      </p:sp>
      <p:sp>
        <p:nvSpPr>
          <p:cNvPr id="8" name="Joint completion caption">
            <a:extLst xmlns:a="http://schemas.openxmlformats.org/drawingml/2006/main">
              <a:ext uri="{FF2B5EF4-FFF2-40B4-BE49-F238E27FC236}">
                <a16:creationId xmlns:a16="http://schemas.microsoft.com/office/drawing/2014/main" id="{FD0BFCE4-C215-4DF6-A7A4-EE281E1F4AC1}"/>
              </a:ext>
            </a:extLst>
          </p:cNvPr>
          <p:cNvSpPr>
            <a:spLocks xmlns:a="http://schemas.openxmlformats.org/drawingml/2006/main" noGrp="1"/>
          </p:cNvSpPr>
          <p:nvPr/>
        </p:nvSpPr>
        <p:spPr>
          <a:xfrm xmlns:a="http://schemas.openxmlformats.org/drawingml/2006/main">
            <a:off x="8886825" y="3133725"/>
            <a:ext cx="26955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650" b="0">
                <a:solidFill>
                  <a:srgbClr val="2B373B"/>
                </a:solidFill>
                <a:latin typeface="Segoe UI"/>
                <a:ea typeface="Segoe UI"/>
                <a:cs typeface="Segoe UI"/>
              </a:defRPr>
            </a:pPr>
            <a:r>
              <a:rPr sz="1650" b="0">
                <a:solidFill>
                  <a:srgbClr val="2B373B"/>
                </a:solidFill>
                <a:latin typeface="Segoe UI"/>
                <a:ea typeface="Segoe UI"/>
                <a:cs typeface="Segoe UI"/>
              </a:rPr>
              <a:t>Complete seven-item</a:t>
            </a:r>
          </a:p>
          <a:p xmlns:a="http://schemas.openxmlformats.org/drawingml/2006/main">
            <a:pPr>
              <a:lnSpc>
                <a:spcPct val="120000"/>
              </a:lnSpc>
              <a:buNone/>
              <a:defRPr sz="1650" b="0">
                <a:solidFill>
                  <a:srgbClr val="2B373B"/>
                </a:solidFill>
                <a:latin typeface="Segoe UI"/>
                <a:ea typeface="Segoe UI"/>
                <a:cs typeface="Segoe UI"/>
              </a:defRPr>
            </a:pPr>
            <a:r>
              <a:rPr sz="1650" b="0">
                <a:solidFill>
                  <a:srgbClr val="2B373B"/>
                </a:solidFill>
                <a:latin typeface="Segoe UI"/>
                <a:ea typeface="Segoe UI"/>
                <a:cs typeface="Segoe UI"/>
              </a:rPr>
              <a:t>workflows passed</a:t>
            </a:r>
          </a:p>
        </p:txBody>
      </p:sp>
      <p:sp>
        <p:nvSpPr>
          <p:cNvPr id="9" name="Policy status">
            <a:extLst xmlns:a="http://schemas.openxmlformats.org/drawingml/2006/main">
              <a:ext uri="{FF2B5EF4-FFF2-40B4-BE49-F238E27FC236}">
                <a16:creationId xmlns:a16="http://schemas.microsoft.com/office/drawing/2014/main" id="{7B5B2CE7-51BB-4D90-84BD-692075432011}"/>
              </a:ext>
            </a:extLst>
          </p:cNvPr>
          <p:cNvSpPr>
            <a:spLocks xmlns:a="http://schemas.openxmlformats.org/drawingml/2006/main" noGrp="1"/>
          </p:cNvSpPr>
          <p:nvPr/>
        </p:nvSpPr>
        <p:spPr>
          <a:xfrm xmlns:a="http://schemas.openxmlformats.org/drawingml/2006/main">
            <a:off x="609600" y="3524250"/>
            <a:ext cx="69818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800" b="0">
                <a:solidFill>
                  <a:srgbClr val="2B373B"/>
                </a:solidFill>
                <a:latin typeface="Segoe UI"/>
                <a:ea typeface="Segoe UI"/>
                <a:cs typeface="Segoe UI"/>
              </a:defRPr>
            </a:pPr>
            <a:r>
              <a:rPr sz="1800" b="0">
                <a:solidFill>
                  <a:srgbClr val="2B373B"/>
                </a:solidFill>
                <a:latin typeface="Segoe UI"/>
                <a:ea typeface="Segoe UI"/>
                <a:cs typeface="Segoe UI"/>
              </a:rPr>
              <a:t>Calibrated RGB-D and adapted CLIPort run on the RTX 4070. The shared Talos action policy is untrained.</a:t>
            </a:r>
          </a:p>
        </p:txBody>
      </p:sp>
      <p:sp>
        <p:nvSpPr>
          <p:cNvPr id="10" name="">
            <a:extLst xmlns:a="http://schemas.openxmlformats.org/drawingml/2006/main">
              <a:ext uri="{FF2B5EF4-FFF2-40B4-BE49-F238E27FC236}">
                <a16:creationId xmlns:a16="http://schemas.microsoft.com/office/drawing/2014/main" id="{E16E2AF9-C03B-4583-B78F-EE7C80EE62E8}"/>
              </a:ext>
            </a:extLst>
          </p:cNvPr>
          <p:cNvSpPr>
            <a:spLocks xmlns:a="http://schemas.openxmlformats.org/drawingml/2006/main" noGrp="1"/>
          </p:cNvSpPr>
          <p:nvPr/>
        </p:nvSpPr>
        <p:spPr>
          <a:xfrm xmlns:a="http://schemas.openxmlformats.org/drawingml/2006/main">
            <a:off x="609600" y="4733925"/>
            <a:ext cx="10972800" cy="9525"/>
          </a:xfrm>
          <a:prstGeom xmlns:a="http://schemas.openxmlformats.org/drawingml/2006/main" prst="rect">
            <a:avLst/>
          </a:prstGeom>
          <a:solidFill xmlns:a="http://schemas.openxmlformats.org/drawingml/2006/main">
            <a:srgbClr val="DADDE2"/>
          </a:solidFill>
          <a:ln xmlns:a="http://schemas.openxmlformats.org/drawingml/2006/main" w="0">
            <a:noFill/>
          </a:ln>
        </p:spPr>
      </p:sp>
      <p:sp>
        <p:nvSpPr>
          <p:cNvPr id="11" name="Next dependency label">
            <a:extLst xmlns:a="http://schemas.openxmlformats.org/drawingml/2006/main">
              <a:ext uri="{FF2B5EF4-FFF2-40B4-BE49-F238E27FC236}">
                <a16:creationId xmlns:a16="http://schemas.microsoft.com/office/drawing/2014/main" id="{871335BF-47CF-49A0-9F63-B72D9B213B71}"/>
              </a:ext>
            </a:extLst>
          </p:cNvPr>
          <p:cNvSpPr>
            <a:spLocks xmlns:a="http://schemas.openxmlformats.org/drawingml/2006/main" noGrp="1"/>
          </p:cNvSpPr>
          <p:nvPr/>
        </p:nvSpPr>
        <p:spPr>
          <a:xfrm xmlns:a="http://schemas.openxmlformats.org/drawingml/2006/main">
            <a:off x="609600" y="4953000"/>
            <a:ext cx="3829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650" b="1">
                <a:solidFill>
                  <a:srgbClr val="1B1338"/>
                </a:solidFill>
                <a:latin typeface="Segoe UI Semibold"/>
                <a:ea typeface="Segoe UI Semibold"/>
                <a:cs typeface="Segoe UI Semibold"/>
              </a:defRPr>
            </a:pPr>
            <a:r>
              <a:rPr sz="1650" b="1">
                <a:solidFill>
                  <a:srgbClr val="1B1338"/>
                </a:solidFill>
                <a:latin typeface="Segoe UI Semibold"/>
                <a:ea typeface="Segoe UI Semibold"/>
                <a:cs typeface="Segoe UI Semibold"/>
              </a:rPr>
              <a:t>Next capability milestone</a:t>
            </a:r>
          </a:p>
        </p:txBody>
      </p:sp>
      <p:sp>
        <p:nvSpPr>
          <p:cNvPr id="12" name="Next dependency">
            <a:extLst xmlns:a="http://schemas.openxmlformats.org/drawingml/2006/main">
              <a:ext uri="{FF2B5EF4-FFF2-40B4-BE49-F238E27FC236}">
                <a16:creationId xmlns:a16="http://schemas.microsoft.com/office/drawing/2014/main" id="{D92E400F-0938-4645-8DB9-0A0AE6DF5FD5}"/>
              </a:ext>
            </a:extLst>
          </p:cNvPr>
          <p:cNvSpPr>
            <a:spLocks xmlns:a="http://schemas.openxmlformats.org/drawingml/2006/main" noGrp="1"/>
          </p:cNvSpPr>
          <p:nvPr/>
        </p:nvSpPr>
        <p:spPr>
          <a:xfrm xmlns:a="http://schemas.openxmlformats.org/drawingml/2006/main">
            <a:off x="4733925" y="4943475"/>
            <a:ext cx="68484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650" b="0">
                <a:solidFill>
                  <a:srgbClr val="2B373B"/>
                </a:solidFill>
                <a:latin typeface="Segoe UI"/>
                <a:ea typeface="Segoe UI"/>
                <a:cs typeface="Segoe UI"/>
              </a:defRPr>
            </a:pPr>
            <a:r>
              <a:rPr sz="1650" b="0">
                <a:solidFill>
                  <a:srgbClr val="2B373B"/>
                </a:solidFill>
                <a:latin typeface="Segoe UI"/>
                <a:ea typeface="Segoe UI"/>
                <a:cs typeface="Segoe UI"/>
              </a:rPr>
              <a:t>Reliable physical grasps and routes, then varied whole-scene demonstrations and a shared camera-driven policy.</a:t>
            </a:r>
          </a:p>
        </p:txBody>
      </p:sp>
      <p:sp>
        <p:nvSpPr>
          <p:cNvPr id="13" name="Project link">
            <a:extLst xmlns:a="http://schemas.openxmlformats.org/drawingml/2006/main">
              <a:ext uri="{FF2B5EF4-FFF2-40B4-BE49-F238E27FC236}">
                <a16:creationId xmlns:a16="http://schemas.microsoft.com/office/drawing/2014/main" id="{7E2B46E1-5716-495F-B146-B6187768081D}"/>
              </a:ext>
            </a:extLst>
          </p:cNvPr>
          <p:cNvSpPr>
            <a:spLocks xmlns:a="http://schemas.openxmlformats.org/drawingml/2006/main" noGrp="1"/>
          </p:cNvSpPr>
          <p:nvPr/>
        </p:nvSpPr>
        <p:spPr>
          <a:xfrm xmlns:a="http://schemas.openxmlformats.org/drawingml/2006/main">
            <a:off x="609600" y="5867400"/>
            <a:ext cx="6429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350" b="1">
                <a:solidFill>
                  <a:srgbClr val="29ABE2"/>
                </a:solidFill>
                <a:latin typeface="Segoe UI Semibold"/>
                <a:ea typeface="Segoe UI Semibold"/>
                <a:cs typeface="Segoe UI Semibold"/>
              </a:defRPr>
            </a:pPr>
            <a:r>
              <a:rPr sz="1350" b="1">
                <a:solidFill>
                  <a:srgbClr val="29ABE2"/>
                </a:solidFill>
                <a:latin typeface="Segoe UI Semibold"/>
                <a:ea typeface="Segoe UI Semibold"/>
                <a:cs typeface="Segoe UI Semibold"/>
              </a:rPr>
              <a:t>github.com/jannissio/talos-ai-infra</a:t>
            </a:r>
          </a:p>
        </p:txBody>
      </p:sp>
      <p:sp>
        <p:nvSpPr>
          <p:cNvPr id="14" name="Reproducible package">
            <a:extLst xmlns:a="http://schemas.openxmlformats.org/drawingml/2006/main">
              <a:ext uri="{FF2B5EF4-FFF2-40B4-BE49-F238E27FC236}">
                <a16:creationId xmlns:a16="http://schemas.microsoft.com/office/drawing/2014/main" id="{8366CFE4-BF5E-4BF0-B48A-83C55A78A03B}"/>
              </a:ext>
            </a:extLst>
          </p:cNvPr>
          <p:cNvSpPr>
            <a:spLocks xmlns:a="http://schemas.openxmlformats.org/drawingml/2006/main" noGrp="1"/>
          </p:cNvSpPr>
          <p:nvPr/>
        </p:nvSpPr>
        <p:spPr>
          <a:xfrm xmlns:a="http://schemas.openxmlformats.org/drawingml/2006/main">
            <a:off x="609600" y="6200775"/>
            <a:ext cx="796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050" b="0">
                <a:solidFill>
                  <a:srgbClr val="626262"/>
                </a:solidFill>
                <a:latin typeface="Segoe UI"/>
                <a:ea typeface="Segoe UI"/>
                <a:cs typeface="Segoe UI"/>
              </a:defRPr>
            </a:pPr>
            <a:r>
              <a:rPr sz="1050" b="0">
                <a:solidFill>
                  <a:srgbClr val="626262"/>
                </a:solidFill>
                <a:latin typeface="Segoe UI"/>
                <a:ea typeface="Segoe UI"/>
                <a:cs typeface="Segoe UI"/>
              </a:rPr>
              <a:t>Code, models, compact inputs and all outcomes. MIT for original work.</a:t>
            </a:r>
          </a:p>
        </p:txBody>
      </p:sp>
      <p:sp>
        <p:nvSpPr>
          <p:cNvPr id="15" name="Hosted demo status">
            <a:extLst xmlns:a="http://schemas.openxmlformats.org/drawingml/2006/main">
              <a:ext uri="{FF2B5EF4-FFF2-40B4-BE49-F238E27FC236}">
                <a16:creationId xmlns:a16="http://schemas.microsoft.com/office/drawing/2014/main" id="{31595B49-FC74-469F-AA27-C6386CCE2941}"/>
              </a:ext>
            </a:extLst>
          </p:cNvPr>
          <p:cNvSpPr>
            <a:spLocks xmlns:a="http://schemas.openxmlformats.org/drawingml/2006/main" noGrp="1"/>
          </p:cNvSpPr>
          <p:nvPr/>
        </p:nvSpPr>
        <p:spPr>
          <a:xfrm xmlns:a="http://schemas.openxmlformats.org/drawingml/2006/main">
            <a:off x="8772525" y="5838825"/>
            <a:ext cx="2809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20000"/>
              </a:lnSpc>
              <a:buNone/>
              <a:defRPr sz="1200" b="0">
                <a:solidFill>
                  <a:srgbClr val="626262"/>
                </a:solidFill>
                <a:latin typeface="Segoe UI"/>
                <a:ea typeface="Segoe UI"/>
                <a:cs typeface="Segoe UI"/>
              </a:defRPr>
            </a:pPr>
            <a:r>
              <a:rPr sz="1200" b="0">
                <a:solidFill>
                  <a:srgbClr val="626262"/>
                </a:solidFill>
                <a:latin typeface="Segoe UI"/>
                <a:ea typeface="Segoe UI"/>
                <a:cs typeface="Segoe UI"/>
              </a:rPr>
              <a:t>Private CPU demo verified.</a:t>
            </a:r>
          </a:p>
          <a:p xmlns:a="http://schemas.openxmlformats.org/drawingml/2006/main">
            <a:pPr>
              <a:lnSpc>
                <a:spcPct val="120000"/>
              </a:lnSpc>
              <a:buNone/>
              <a:defRPr sz="1200" b="0">
                <a:solidFill>
                  <a:srgbClr val="626262"/>
                </a:solidFill>
                <a:latin typeface="Segoe UI"/>
                <a:ea typeface="Segoe UI"/>
                <a:cs typeface="Segoe UI"/>
              </a:defRPr>
            </a:pPr>
            <a:r>
              <a:rPr sz="1200" b="0">
                <a:solidFill>
                  <a:srgbClr val="626262"/>
                </a:solidFill>
                <a:latin typeface="Segoe UI"/>
                <a:ea typeface="Segoe UI"/>
                <a:cs typeface="Segoe UI"/>
              </a:rPr>
              <a:t>Public access awaits final release.</a:t>
            </a:r>
          </a:p>
        </p:txBody>
      </p:sp>
    </p:spTree>
    <p:extLst>
      <p:ext uri="{BB962C8B-B14F-4D97-AF65-F5344CB8AC3E}">
        <p14:creationId xmlns:p14="http://schemas.microsoft.com/office/powerpoint/2010/main" val="2546067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2026-09-14T16:38:46.3490000Z</dcterms:created>
  <dcterms:modified xsi:type="dcterms:W3CDTF">2026-09-14T16:38:46.3490000Z</dcterms:modified>
</coreProperties>
</file>